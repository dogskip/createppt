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27048" y="2606040"/>
            <a:ext cx="9144000" cy="1655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0">
                <a:solidFill>
                  <a:srgbClr val="FFFFFF"/>
                </a:solidFill>
                <a:latin typeface="나눔고딕"/>
              </a:defRPr>
            </a:pPr>
            <a:r>
              <a:t>여호수아 24:31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832104"/>
            <a:ext cx="10972800" cy="6309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FFFFF"/>
                </a:solidFill>
                <a:latin typeface="나눔고딕"/>
              </a:defRPr>
            </a:pPr>
            <a:r>
              <a:t>여호수아 Joshua | 24:31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" y="2194560"/>
            <a:ext cx="108813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31</a:t>
            </a:r>
            <a:br/>
            <a:r>
              <a:rPr sz="2400" b="1">
                <a:solidFill>
                  <a:srgbClr val="FFFFFF"/>
                </a:solidFill>
                <a:latin typeface="나눔고딕"/>
              </a:rPr>
              <a:t>이스라엘은 여호수아가 살아 있는 동안과 여호수아보다 오래 산 장로들,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곧 여호와께서 이스라엘을 위해 하신 모든 일을 보아 알고 있는 장로들이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살아 있는 동안만 여호와를 섬겼습니다.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4663440"/>
            <a:ext cx="10213848" cy="17465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Israel served the LORD throughout the lifetime of Joshua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and of the elders who outlived him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and who had experienced everything the LORD had done for Israel.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27048" y="2606040"/>
            <a:ext cx="9144000" cy="1655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0">
                <a:solidFill>
                  <a:srgbClr val="FFFFFF"/>
                </a:solidFill>
                <a:latin typeface="나눔고딕"/>
              </a:defRPr>
            </a:pPr>
            <a:r>
              <a:t>시편 78:1-6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832104"/>
            <a:ext cx="10972800" cy="6309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FFFFF"/>
                </a:solidFill>
                <a:latin typeface="나눔고딕"/>
              </a:defRPr>
            </a:pPr>
            <a:r>
              <a:t>시편 Psalms | 78:1-6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" y="2194560"/>
            <a:ext cx="108813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﻿1</a:t>
            </a:r>
            <a:br/>
            <a:r>
              <a:rPr sz="2400" b="1">
                <a:solidFill>
                  <a:srgbClr val="FFFFFF"/>
                </a:solidFill>
                <a:latin typeface="나눔고딕"/>
              </a:rPr>
              <a:t>오 내 백성들아, 내 가르침을 들으라. 내 입으로 하는 말에 귀 기울이라.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4663440"/>
            <a:ext cx="8909427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Psalm 78 A maskil of Asaph. O my people, hear my teaching;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listen to the words of my mouth.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832104"/>
            <a:ext cx="10972800" cy="6309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FFFFF"/>
                </a:solidFill>
                <a:latin typeface="나눔고딕"/>
              </a:defRPr>
            </a:pPr>
            <a:r>
              <a:t>시편 Psalms | 78:1-6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" y="2194560"/>
            <a:ext cx="6359433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2</a:t>
            </a:r>
            <a:br/>
            <a:r>
              <a:rPr sz="2400" b="1">
                <a:solidFill>
                  <a:srgbClr val="FFFFFF"/>
                </a:solidFill>
                <a:latin typeface="나눔고딕"/>
              </a:rPr>
              <a:t>내가 입을 열어 비유를 들고 옛날부터 전해 오는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비밀스러운 일들을 말해 주리라.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4663440"/>
            <a:ext cx="6694461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I will open my mouth in parables,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I will utter hidden things, things from of old --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832104"/>
            <a:ext cx="10972800" cy="6309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FFFFF"/>
                </a:solidFill>
                <a:latin typeface="나눔고딕"/>
              </a:defRPr>
            </a:pPr>
            <a:r>
              <a:t>시편 Psalms | 78:1-6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" y="2194560"/>
            <a:ext cx="108813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3</a:t>
            </a:r>
            <a:br/>
            <a:r>
              <a:rPr sz="2400" b="1">
                <a:solidFill>
                  <a:srgbClr val="FFFFFF"/>
                </a:solidFill>
                <a:latin typeface="나눔고딕"/>
              </a:rPr>
              <a:t>그것은 우리가 들어서 아는 것이고 우리 조상들이 우리에게 전해 준 것이다.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4663440"/>
            <a:ext cx="10213848" cy="17465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what we have heard and known, what our fathers have told us.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832104"/>
            <a:ext cx="10972800" cy="6309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FFFFF"/>
                </a:solidFill>
                <a:latin typeface="나눔고딕"/>
              </a:defRPr>
            </a:pPr>
            <a:r>
              <a:t>시편 Psalms | 78:1-6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" y="2194560"/>
            <a:ext cx="9619941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4</a:t>
            </a:r>
            <a:br/>
            <a:r>
              <a:rPr sz="2400" b="1">
                <a:solidFill>
                  <a:srgbClr val="FFFFFF"/>
                </a:solidFill>
                <a:latin typeface="나눔고딕"/>
              </a:rPr>
              <a:t>우리가 그것들을 자녀들에게 숨기지 않고 여호와께서 하신 훌륭한 일들과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그 능력과 그분이 하신 놀라운 일들을 다음 세대에 전해 줄 것이다.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4663440"/>
            <a:ext cx="11407290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We will not hide them from their children; we will tell the next generation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the praiseworthy deeds of the LORD, his power, and the wonders he has done.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832104"/>
            <a:ext cx="10972800" cy="6309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FFFFF"/>
                </a:solidFill>
                <a:latin typeface="나눔고딕"/>
              </a:defRPr>
            </a:pPr>
            <a:r>
              <a:t>시편 Psalms | 78:1-6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" y="2194560"/>
            <a:ext cx="9331401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5</a:t>
            </a:r>
            <a:br/>
            <a:r>
              <a:rPr sz="2400" b="1">
                <a:solidFill>
                  <a:srgbClr val="FFFFFF"/>
                </a:solidFill>
                <a:latin typeface="나눔고딕"/>
              </a:rPr>
              <a:t>그분은 야곱을 위해 계명을 세우시고 이스라엘을 위해 율법을 정하셔서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우리 조상들에게 그것을 자녀들에게 가르치라고 명령하셨다.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4663440"/>
            <a:ext cx="9169498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He decreed statutes for Jacob and established the law in Israel,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which he commanded our forefathers to teach their children,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832104"/>
            <a:ext cx="10972800" cy="6309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FFFFF"/>
                </a:solidFill>
                <a:latin typeface="나눔고딕"/>
              </a:defRPr>
            </a:pPr>
            <a:r>
              <a:t>시편 Psalms | 78:1-6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" y="2194560"/>
            <a:ext cx="10370147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6</a:t>
            </a:r>
            <a:br/>
            <a:r>
              <a:rPr sz="2400" b="1">
                <a:solidFill>
                  <a:srgbClr val="FFFFFF"/>
                </a:solidFill>
                <a:latin typeface="나눔고딕"/>
              </a:rPr>
              <a:t>그래서 다음 세대가 그것을 알고 아직 태어나지 않은 자녀들까지도 그것을 알며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또 그 자녀들에게도 전하도록 하셨다.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4663440"/>
            <a:ext cx="10985700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so the next generation would know them, even the children yet to be born,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and they in turn would tell their children.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27048" y="2606040"/>
            <a:ext cx="9144000" cy="1655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0">
                <a:solidFill>
                  <a:srgbClr val="FFFFFF"/>
                </a:solidFill>
                <a:latin typeface="나눔고딕"/>
              </a:defRPr>
            </a:pPr>
            <a:r>
              <a:t>출애굽기 17:8-16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832104"/>
            <a:ext cx="10972800" cy="6309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FFFFF"/>
                </a:solidFill>
                <a:latin typeface="나눔고딕"/>
              </a:defRPr>
            </a:pPr>
            <a:r>
              <a:t>출애굽기 Exodus | 17:8-16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" y="2194560"/>
            <a:ext cx="108813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8</a:t>
            </a:r>
            <a:br/>
            <a:r>
              <a:rPr sz="2400" b="1">
                <a:solidFill>
                  <a:srgbClr val="FFFFFF"/>
                </a:solidFill>
                <a:latin typeface="나눔고딕"/>
              </a:rPr>
              <a:t>그때 아말렉 사람들이 와서 르비딤에 있는 이스라엘 백성을 공격했습니다.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4663440"/>
            <a:ext cx="10213848" cy="17465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The Amalekites came and attacked the Israelites at Rephidim.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832104"/>
            <a:ext cx="10972800" cy="6309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FFFFF"/>
                </a:solidFill>
                <a:latin typeface="나눔고딕"/>
              </a:defRPr>
            </a:pPr>
            <a:r>
              <a:t>출애굽기 Exodus | 17:8-16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" y="2194560"/>
            <a:ext cx="8666155" cy="15696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9</a:t>
            </a:r>
            <a:br/>
            <a:r>
              <a:rPr sz="2400" b="1">
                <a:solidFill>
                  <a:srgbClr val="FFFFFF"/>
                </a:solidFill>
                <a:latin typeface="나눔고딕"/>
              </a:rPr>
              <a:t>모세는 여호수아에게 말했습니다.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“우리 사람들 가운데 얼마를 선발해 나가서 아말렉과 싸워라.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나는 내일 하나님의 지팡이를 손에 들고 언덕 꼭대기에 서 있겠다.”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4663440"/>
            <a:ext cx="9225154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Moses said to Joshua, "Choose some of our men and go out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to fight the Amalekites. Tomorrow I will stand on top of the hill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with the staff of God in my hands."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832104"/>
            <a:ext cx="10972800" cy="6309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FFFFF"/>
                </a:solidFill>
                <a:latin typeface="나눔고딕"/>
              </a:defRPr>
            </a:pPr>
            <a:r>
              <a:t>출애굽기 Exodus | 17:8-16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" y="2194560"/>
            <a:ext cx="8962710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10</a:t>
            </a:r>
            <a:br/>
            <a:r>
              <a:rPr sz="2400" b="1">
                <a:solidFill>
                  <a:srgbClr val="FFFFFF"/>
                </a:solidFill>
                <a:latin typeface="나눔고딕"/>
              </a:rPr>
              <a:t>그리하여 여호수아는 모세의 명령대로 아말렉 사람들과 싸웠습니다.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모세와 아론과 훌은 언덕 꼭대기로 갔습니다.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4663440"/>
            <a:ext cx="8241359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So Joshua fought the Amalekites as Moses had ordered,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and Moses, Aaron and Hur went to the top of the hill.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832104"/>
            <a:ext cx="10972800" cy="6309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FFFFF"/>
                </a:solidFill>
                <a:latin typeface="나눔고딕"/>
              </a:defRPr>
            </a:pPr>
            <a:r>
              <a:t>출애굽기 Exodus | 17:8-16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" y="2194560"/>
            <a:ext cx="8177239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11</a:t>
            </a:r>
            <a:br/>
            <a:r>
              <a:rPr sz="2400" b="1">
                <a:solidFill>
                  <a:srgbClr val="FFFFFF"/>
                </a:solidFill>
                <a:latin typeface="나눔고딕"/>
              </a:rPr>
              <a:t>그런데 모세가 손을 높이 들고 있는 동안은 이스라엘이 이기고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모세가 손을 내리면 아말렉이 이기는 것이었습니다.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4663440"/>
            <a:ext cx="9676047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As long as Moses held up his hands, the Israelites were winning,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but whenever he lowered his hands, the Amalekites were winning.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832104"/>
            <a:ext cx="10972800" cy="6309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FFFFF"/>
                </a:solidFill>
                <a:latin typeface="나눔고딕"/>
              </a:defRPr>
            </a:pPr>
            <a:r>
              <a:t>출애굽기 Exodus | 17:8-16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" y="2194560"/>
            <a:ext cx="11790407" cy="15696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12</a:t>
            </a:r>
            <a:br/>
            <a:r>
              <a:rPr sz="2400" b="1">
                <a:solidFill>
                  <a:srgbClr val="FFFFFF"/>
                </a:solidFill>
                <a:latin typeface="나눔고딕"/>
              </a:rPr>
              <a:t>그러다가 모세의 손이 피곤해지자 아론과 훌은 돌을 가져다가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모세의 아래에 두고 그를 앉게 했습니다. 그러고는 아론과 훌 가운데 한 사람은 이쪽에서,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한 사람은 저쪽에서 모세의 손을 들어 주어 해질 때까지 그의 손이 그대로 있도록 했습니다.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4663440"/>
            <a:ext cx="10653879" cy="15696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When Moses' hands grew tired, they took a stone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and put it under him and he sat on it. Aaron and Hur held his hands up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-- one on one side, one on the other -- so that his hands remained steady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till sunset.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832104"/>
            <a:ext cx="10972800" cy="6309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FFFFF"/>
                </a:solidFill>
                <a:latin typeface="나눔고딕"/>
              </a:defRPr>
            </a:pPr>
            <a:r>
              <a:t>출애굽기 Exodus | 17:8-16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" y="2194560"/>
            <a:ext cx="108813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13</a:t>
            </a:r>
            <a:br/>
            <a:r>
              <a:rPr sz="2400" b="1">
                <a:solidFill>
                  <a:srgbClr val="FFFFFF"/>
                </a:solidFill>
                <a:latin typeface="나눔고딕"/>
              </a:rPr>
              <a:t>이렇게 해서 여호수아는 아말렉과 그 백성들을 칼로 무찔렀습니다.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4663440"/>
            <a:ext cx="10213848" cy="17465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So Joshua overcame the Amalekite army with the sword.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832104"/>
            <a:ext cx="10972800" cy="6309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FFFFF"/>
                </a:solidFill>
                <a:latin typeface="나눔고딕"/>
              </a:defRPr>
            </a:pPr>
            <a:r>
              <a:t>출애굽기 Exodus | 17:8-16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" y="2194560"/>
            <a:ext cx="9041258" cy="15696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14</a:t>
            </a:r>
            <a:br/>
            <a:r>
              <a:rPr sz="2400" b="1">
                <a:solidFill>
                  <a:srgbClr val="FFFFFF"/>
                </a:solidFill>
                <a:latin typeface="나눔고딕"/>
              </a:rPr>
              <a:t>그때 여호와께서 모세에게 말씀하셨습니다.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“이것을 책에 써서 기념이 되게 하고 여호수아로 하여금 듣게 하여라.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내가 하늘 아래에서 아말렉에 대한 기억을 모조리 없애 버릴 것이다.”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4663440"/>
            <a:ext cx="10180479" cy="15696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Then the LORD said to Moses,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"Write this on a scroll as something to be remembered and make sure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that Joshua hears it, because I will completely blot out the memory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of Amalek from under heaven."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832104"/>
            <a:ext cx="10972800" cy="6309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FFFFF"/>
                </a:solidFill>
                <a:latin typeface="나눔고딕"/>
              </a:defRPr>
            </a:pPr>
            <a:r>
              <a:t>출애굽기 Exodus | 17:8-16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" y="2194560"/>
            <a:ext cx="108813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15</a:t>
            </a:r>
            <a:br/>
            <a:r>
              <a:rPr sz="2400" b="1">
                <a:solidFill>
                  <a:srgbClr val="FFFFFF"/>
                </a:solidFill>
                <a:latin typeface="나눔고딕"/>
              </a:rPr>
              <a:t>모세가 제단을 쌓고 여호와 닛시라고 부르며 말했습니다.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4663440"/>
            <a:ext cx="10213848" cy="17465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Moses built an altar and called it The LORD is my Banner.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832104"/>
            <a:ext cx="10972800" cy="6309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FFFFF"/>
                </a:solidFill>
                <a:latin typeface="나눔고딕"/>
              </a:defRPr>
            </a:pPr>
            <a:r>
              <a:t>출애굽기 Exodus | 17:8-16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" y="2194560"/>
            <a:ext cx="108813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16</a:t>
            </a:r>
            <a:br/>
            <a:r>
              <a:rPr sz="2400" b="1">
                <a:solidFill>
                  <a:srgbClr val="FFFFFF"/>
                </a:solidFill>
                <a:latin typeface="나눔고딕"/>
              </a:rPr>
              <a:t>“여호와께서 대대로 아말렉을 대적해 싸우시겠다고 맹세하셨다.”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4663440"/>
            <a:ext cx="11567590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He said, "For hands were lifted up to the throne of the LORD.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The LORD will be at war against the Amalekites from generation to generation."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27048" y="2606040"/>
            <a:ext cx="9144000" cy="1655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0">
                <a:solidFill>
                  <a:srgbClr val="FFFFFF"/>
                </a:solidFill>
                <a:latin typeface="나눔고딕"/>
              </a:defRPr>
            </a:pPr>
            <a:r>
              <a:t>여호수아 3:15-17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832104"/>
            <a:ext cx="10972800" cy="6309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FFFFF"/>
                </a:solidFill>
                <a:latin typeface="나눔고딕"/>
              </a:defRPr>
            </a:pPr>
            <a:r>
              <a:t>여호수아 Joshua | 3:15-17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" y="2194560"/>
            <a:ext cx="6942926" cy="15696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15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드디어 궤를 멘 제사장들이 요단 강에 이르러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그들의 발을 물속에 담갔습니다.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요단 강은 추수 때여서 물이 강둑까지 가득 찼습니다.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4663440"/>
            <a:ext cx="9331529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Now the Jordan is at flood stage all during harvest.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Yet as soon as the priests who carried the ark reached the Jordan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and their feet touched the water's edge,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832104"/>
            <a:ext cx="10972800" cy="6309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FFFFF"/>
                </a:solidFill>
                <a:latin typeface="나눔고딕"/>
              </a:defRPr>
            </a:pPr>
            <a:r>
              <a:t>여호수아 Joshua | 3:15-17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" y="2194560"/>
            <a:ext cx="8940268" cy="19389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16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위에서 흐르던 물이 멈추어 서고 저 멀리 사르단 지방의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아담이라는 동네쯤에서 벽을 이루기 시작했고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아래쪽 아라바 해역, 곧 염해로 흐르던 물은 완전히 끊겨 버렸습니다.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그리하여 백성들은 여리고 맞은편으로 건너갔습니다.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4663440"/>
            <a:ext cx="9716121" cy="19389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the water from upstream stopped flowing.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It piled up in a heap a great distance away, at a town called Adam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in the vicinity of Zarethan, while the water flowing down to the Sea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of the Arabah (the Salt Sea) was completely cut off.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So the people crossed over opposite Jericho.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832104"/>
            <a:ext cx="10972800" cy="6309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FFFFF"/>
                </a:solidFill>
                <a:latin typeface="나눔고딕"/>
              </a:defRPr>
            </a:pPr>
            <a:r>
              <a:t>여호수아 Joshua | 3:15-17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" y="2194560"/>
            <a:ext cx="6849952" cy="19389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17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여호와의 언약궤를 든 제사장들은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요단 강 한복판 마른 땅 위에 서 있었습니다.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그 사이에 모든 이스라엘 백성들은 마른 땅을 건너가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마침내 온 백성이 요단 강 건너기를 다 마쳤습니다.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4663440"/>
            <a:ext cx="9086142" cy="15696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The priests who carried the ark of the covenant of the LORD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stood firm on dry ground in the middle of the Jordan,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while all Israel passed by until the whole nation had completed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the crossing on dry ground.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27048" y="2606040"/>
            <a:ext cx="9144000" cy="1655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0">
                <a:solidFill>
                  <a:srgbClr val="FFFFFF"/>
                </a:solidFill>
                <a:latin typeface="나눔고딕"/>
              </a:defRPr>
            </a:pPr>
            <a:r>
              <a:t>출애굽기 14:21-25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832104"/>
            <a:ext cx="10972800" cy="6309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FFFFF"/>
                </a:solidFill>
                <a:latin typeface="나눔고딕"/>
              </a:defRPr>
            </a:pPr>
            <a:r>
              <a:t>출애굽기 Exodus | 14:21-25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" y="2194560"/>
            <a:ext cx="8385629" cy="15696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21</a:t>
            </a:r>
            <a:br/>
            <a:r>
              <a:rPr sz="2400" b="1">
                <a:solidFill>
                  <a:srgbClr val="FFFFFF"/>
                </a:solidFill>
                <a:latin typeface="나눔고딕"/>
              </a:rPr>
              <a:t>그때 모세가 바다 위로 손을 뻗었습니다.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그러자 여호와께서 밤새도록 동쪽에서 바람이 불게 하셨습니다.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그 바람 때문에 바닷물이 갈라져 바다가 마른 땅이 됐습니다.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4663440"/>
            <a:ext cx="7518405" cy="15696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Then Moses stretched out his hand over the sea,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and all that night the LORD drove the sea back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with a strong east wind and turned it into dry land.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The waters were divided,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832104"/>
            <a:ext cx="10972800" cy="6309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FFFFF"/>
                </a:solidFill>
                <a:latin typeface="나눔고딕"/>
              </a:defRPr>
            </a:pPr>
            <a:r>
              <a:t>출애굽기 Exodus | 14:21-25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" y="2194560"/>
            <a:ext cx="108813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22</a:t>
            </a:r>
            <a:br/>
            <a:r>
              <a:rPr sz="2400" b="1">
                <a:solidFill>
                  <a:srgbClr val="FFFFFF"/>
                </a:solidFill>
                <a:latin typeface="나눔고딕"/>
              </a:rPr>
              <a:t>오른쪽, 왼쪽으로 물 벽이 섰고 이스라엘 백성들은 마른 땅 위로 바다를 건너게 됐습니다.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4663440"/>
            <a:ext cx="8029762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and the Israelites went through the sea on dry ground,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with a wall of water on their right and on their left.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832104"/>
            <a:ext cx="10972800" cy="6309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FFFFF"/>
                </a:solidFill>
                <a:latin typeface="나눔고딕"/>
              </a:defRPr>
            </a:pPr>
            <a:r>
              <a:t>출애굽기 Exodus | 14:21-25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" y="2194560"/>
            <a:ext cx="9337813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23</a:t>
            </a:r>
            <a:br/>
            <a:r>
              <a:rPr sz="2400" b="1">
                <a:solidFill>
                  <a:srgbClr val="FFFFFF"/>
                </a:solidFill>
                <a:latin typeface="나눔고딕"/>
              </a:rPr>
              <a:t>이집트 사람들도 이스라엘 백성을 따라 바다 한가운데로 들어갔습니다.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바로의 모든 말들과 전차들과 마병들이 전부 다 들어간 것입니다.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4663440"/>
            <a:ext cx="8066632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The Egyptians pursued them, and all Pharaoh's horses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and chariots and horsemen followed them into the sea.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832104"/>
            <a:ext cx="10972800" cy="6309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FFFFF"/>
                </a:solidFill>
                <a:latin typeface="나눔고딕"/>
              </a:defRPr>
            </a:pPr>
            <a:r>
              <a:t>출애굽기 Exodus | 14:21-25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" y="2194560"/>
            <a:ext cx="8956298" cy="15696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24</a:t>
            </a:r>
            <a:br/>
            <a:r>
              <a:rPr sz="2400" b="1">
                <a:solidFill>
                  <a:srgbClr val="FFFFFF"/>
                </a:solidFill>
                <a:latin typeface="나눔고딕"/>
              </a:rPr>
              <a:t>새벽녘이 됐습니다.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여호와께서 불기둥과 구름 기둥 속에서 이집트 군대를 내려다보시고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그들로 하여금 우왕좌왕하게 만드셨습니다.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4663440"/>
            <a:ext cx="10596170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During the last watch of the night the LORD looked down from the pillar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of fire and cloud at the Egyptian army and threw it into confusion.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832104"/>
            <a:ext cx="10972800" cy="6309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FFFFF"/>
                </a:solidFill>
                <a:latin typeface="나눔고딕"/>
              </a:defRPr>
            </a:pPr>
            <a:r>
              <a:t>출애굽기 Exodus | 14:21-25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" y="2194560"/>
            <a:ext cx="9510937" cy="15696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25</a:t>
            </a:r>
            <a:br/>
            <a:r>
              <a:rPr sz="2400" b="1">
                <a:solidFill>
                  <a:srgbClr val="FFFFFF"/>
                </a:solidFill>
                <a:latin typeface="나눔고딕"/>
              </a:rPr>
              <a:t>그러자 이집트 군대의 전차 바퀴가 떨어져 나가 움직일 수가 없었습니다.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이집트 사람들은 “이스라엘 앞에서 도망쳐야겠다!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여호와께서 그들을 위해 이집트와 싸우신다”라고 말했습니다.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4663440"/>
            <a:ext cx="11716669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He made the wheels of their chariots come off so that they had difficulty driving.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And the Egyptians said, "Let's get away from the Israelites!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The LORD is fighting for them against Egypt."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27048" y="2606040"/>
            <a:ext cx="9144000" cy="1655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0">
                <a:solidFill>
                  <a:srgbClr val="FFFFFF"/>
                </a:solidFill>
                <a:latin typeface="나눔고딕"/>
              </a:defRPr>
            </a:pPr>
            <a:r>
              <a:t>여호수아 6:20-21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832104"/>
            <a:ext cx="4466287" cy="63094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FFFFF"/>
                </a:solidFill>
                <a:latin typeface="나눔고딕"/>
              </a:defRPr>
            </a:pPr>
            <a:r>
              <a:t>여호수아 Joshua | 6:20-21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" y="2194560"/>
            <a:ext cx="10376559" cy="15696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20</a:t>
            </a:r>
            <a:br/>
            <a:r>
              <a:rPr sz="2400" b="1">
                <a:solidFill>
                  <a:srgbClr val="FFFFFF"/>
                </a:solidFill>
                <a:latin typeface="나눔고딕"/>
              </a:rPr>
              <a:t>백성들은 함성을 질렀고 나팔이 울렸습니다.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나팔 소리에 맞춰 백성들이 큰 함성을 지르자 성벽이 와르르 무너져 내렸습니다.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그러자 백성들은 일제히 성으로 들어가 그 성을 점령했습니다.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4663440"/>
            <a:ext cx="10876695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When the trumpets sounded, the people shouted,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and at the sound of the trumpet, when the people gave a loud shout,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the wall collapsed; so every man charged straight in, and they took the city.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832104"/>
            <a:ext cx="4466287" cy="63094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FFFFF"/>
                </a:solidFill>
                <a:latin typeface="나눔고딕"/>
              </a:defRPr>
            </a:pPr>
            <a:r>
              <a:t>여호수아 Joshua | 6:20-21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" y="2194560"/>
            <a:ext cx="8629285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21</a:t>
            </a:r>
            <a:br/>
            <a:r>
              <a:rPr sz="2400" b="1">
                <a:solidFill>
                  <a:srgbClr val="FFFFFF"/>
                </a:solidFill>
                <a:latin typeface="나눔고딕"/>
              </a:rPr>
              <a:t>그들은 성안의 모든 것, 곧 남자와 여자, 젊은 사람과 나이 든 사람,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심지어 소, 양, 나귀까지 칼날로 진멸시켰습니다.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4663440"/>
            <a:ext cx="8783174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They devoted the city to the LORD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and destroyed with the sword every living thing in it –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men and women, young and old, cattle, sheep and donkeys.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27048" y="2606040"/>
            <a:ext cx="9144000" cy="1655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0">
                <a:solidFill>
                  <a:srgbClr val="FFFFFF"/>
                </a:solidFill>
                <a:latin typeface="나눔고딕"/>
              </a:defRPr>
            </a:pPr>
            <a:r>
              <a:t>출애굽기 33:11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832104"/>
            <a:ext cx="10972800" cy="6309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FFFFF"/>
                </a:solidFill>
                <a:latin typeface="나눔고딕"/>
              </a:defRPr>
            </a:pPr>
            <a:r>
              <a:t>출애굽기 Exodus | 33:11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" y="2194560"/>
            <a:ext cx="8962710" cy="15696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11</a:t>
            </a:r>
            <a:br/>
            <a:r>
              <a:rPr sz="2400" b="1">
                <a:solidFill>
                  <a:srgbClr val="FFFFFF"/>
                </a:solidFill>
                <a:latin typeface="나눔고딕"/>
              </a:rPr>
              <a:t>여호와께서는 모세와 얼굴을 맞대고 말씀하셨습니다.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그런 후 모세는 진영으로 돌아오곤 했습니다.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그러나 모세를 보좌하는 청년 여호수아는 회막을 떠나지 않았습니다.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4663440"/>
            <a:ext cx="10423046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The LORD would speak to Moses face to face,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as a man speaks with his friend. Then Moses would return to the camp,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but his young aide Joshua son of Nun did not leave the tent.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27048" y="2606040"/>
            <a:ext cx="9144000" cy="1655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0">
                <a:solidFill>
                  <a:srgbClr val="FFFFFF"/>
                </a:solidFill>
                <a:latin typeface="나눔고딕"/>
              </a:defRPr>
            </a:pPr>
            <a:r>
              <a:t>여호수아 1:1-9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832104"/>
            <a:ext cx="10972800" cy="6309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FFFFF"/>
                </a:solidFill>
                <a:latin typeface="나눔고딕"/>
              </a:defRPr>
            </a:pPr>
            <a:r>
              <a:t>여호수아 Joshua | 1:1-9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" y="2194560"/>
            <a:ext cx="7715574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1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여호와의 종 모세가 죽은 후에 여호와께서 모세를 보좌하던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눈의 아들 여호수아에게 말씀하셨습니다.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4663440"/>
            <a:ext cx="7221849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After the death of Moses the servant of the LORD,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the LORD said to Joshua son of Nun, Moses' aide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832104"/>
            <a:ext cx="10972800" cy="6309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FFFFF"/>
                </a:solidFill>
                <a:latin typeface="나눔고딕"/>
              </a:defRPr>
            </a:pPr>
            <a:r>
              <a:t>여호수아 Joshua | 1:1-9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" y="2194560"/>
            <a:ext cx="7895110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2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“내 종 모세가 죽었으니 너와 이 모든 백성들은 이제 일어나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이 강을 건너 내가 이스라엘 백성들에게 주는 땅으로 가거라.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4663440"/>
            <a:ext cx="9180718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"Moses my servant is dead. Now then, you and all these people,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get ready to cross the Jordan River into the land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I am about to give to them -- to the Israelites.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832104"/>
            <a:ext cx="10972800" cy="6309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FFFFF"/>
                </a:solidFill>
                <a:latin typeface="나눔고딕"/>
              </a:defRPr>
            </a:pPr>
            <a:r>
              <a:t>여호수아 Joshua | 1:1-9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" y="2194560"/>
            <a:ext cx="8731878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3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내가 모세에게 말한 대로 네가 네 발로 밟는 곳마다 네게 줄 것이다.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4663440"/>
            <a:ext cx="10213848" cy="17465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I will give you every place where you set your foot, as I promised Moses.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832104"/>
            <a:ext cx="10972800" cy="6309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FFFFF"/>
                </a:solidFill>
                <a:latin typeface="나눔고딕"/>
              </a:defRPr>
            </a:pPr>
            <a:r>
              <a:t>여호수아 Joshua | 1:1-9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" y="2194560"/>
            <a:ext cx="8443337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4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광야와 레바논에서부터 커다란 유프라테스 강과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헷 사람의 온 땅과 해지는 서쪽 큰 바다까지 네 영토가 될 것이다.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4663440"/>
            <a:ext cx="9139040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Your territory will extend from the desert to Lebanon,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and from the great river, the Euphrates -- all the Hittite country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-- to the Great Sea on the west.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832104"/>
            <a:ext cx="10972800" cy="6309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FFFFF"/>
                </a:solidFill>
                <a:latin typeface="나눔고딕"/>
              </a:defRPr>
            </a:pPr>
            <a:r>
              <a:t>여호수아 Joshua | 1:1-9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" y="2194560"/>
            <a:ext cx="6856364" cy="15696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5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네 평생 너를 당해낼 자가 없을 것이다.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내가 모세와 함께했던 것처럼 너와도 함께할 것이다.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내가 결코 너를 떠나지 않으며 버리지 않을 것이다.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4663440"/>
            <a:ext cx="9799478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No one will be able to stand up against you all the days of your life.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As I was with Moses, so I will be with you;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I will never leave you nor forsake you.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832104"/>
            <a:ext cx="10972800" cy="6309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FFFFF"/>
                </a:solidFill>
                <a:latin typeface="나눔고딕"/>
              </a:defRPr>
            </a:pPr>
            <a:r>
              <a:t>여호수아 Joshua | 1:1-9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" y="2194560"/>
            <a:ext cx="8097088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6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강하고 담대하여라. 내가 조상들에게 주겠다고 맹세한 그 땅을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네가 이 백성들에게 유산으로 나눠 줄 것이다.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4663440"/>
            <a:ext cx="9135834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"Be strong and courageous, because you will lead these people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to inherit the land I swore to their forefathers to give them.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832104"/>
            <a:ext cx="10972800" cy="6309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FFFFF"/>
                </a:solidFill>
                <a:latin typeface="나눔고딕"/>
              </a:defRPr>
            </a:pPr>
            <a:r>
              <a:t>여호수아 Joshua | 1:1-9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" y="2194560"/>
            <a:ext cx="5702202" cy="19389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7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오직 마음을 강하게 먹고 큰 용기를 내어라.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내 종 모세가 네게 준 율법을 다 지켜라.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그것에서 돌이켜 좌우로 치우치지 마라.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그러면 네가 어디를 가든지 잘될 것이다.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4663440"/>
            <a:ext cx="8315097" cy="15696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Be strong and very courageous.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Be careful to obey all the law my servant Moses gave you;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do not turn from it to the right or to the left,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that you may be successful wherever you go.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832104"/>
            <a:ext cx="10972800" cy="6309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FFFFF"/>
                </a:solidFill>
                <a:latin typeface="나눔고딕"/>
              </a:defRPr>
            </a:pPr>
            <a:r>
              <a:t>여호수아 Joshua | 1:1-9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" y="2194560"/>
            <a:ext cx="8465779" cy="15696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8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이 율법책이 네 입에서 떠나지 않게 하고 그것을 밤낮으로 묵상해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그 안에 기록된 모든 것을 지켜 행하여라.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그러면 네 길이 번창하고 성공하게 될 것이다.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4663440"/>
            <a:ext cx="10584949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Do not let this Book of the Law depart from your mouth meditate on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it day and night, so that you may be careful to do everything written in it.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Then you will be prosperous and successful.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832104"/>
            <a:ext cx="10972800" cy="6309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FFFFF"/>
                </a:solidFill>
                <a:latin typeface="나눔고딕"/>
              </a:defRPr>
            </a:pPr>
            <a:r>
              <a:t>여호수아 Joshua | 1:1-9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" y="2194560"/>
            <a:ext cx="7713971" cy="15696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9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내가 네게 명령하지 않았느냐? 강하고 담대하여라.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두려워하지 말고 낙심하지 마라.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네가 어디를 가든 여호와 네 하나님이 너와 함께할 것이다.”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4663440"/>
            <a:ext cx="8345554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Have I not commanded you? Be strong and courageous.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Do not be terrified; do not be discouraged,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for the LORD your God will be with you wherever you go.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27048" y="2606040"/>
            <a:ext cx="9144000" cy="1655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0">
                <a:solidFill>
                  <a:srgbClr val="FFFFFF"/>
                </a:solidFill>
                <a:latin typeface="나눔고딕"/>
              </a:defRPr>
            </a:pPr>
            <a:r>
              <a:t>여호수아 24:31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832104"/>
            <a:ext cx="10972800" cy="6309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FFFFF"/>
                </a:solidFill>
                <a:latin typeface="나눔고딕"/>
              </a:defRPr>
            </a:pPr>
            <a:r>
              <a:t>여호수아 Joshua | 24:31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" y="2194560"/>
            <a:ext cx="108813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31</a:t>
            </a:r>
            <a:br/>
            <a:r>
              <a:rPr sz="2400" b="1">
                <a:solidFill>
                  <a:srgbClr val="FFFFFF"/>
                </a:solidFill>
                <a:latin typeface="나눔고딕"/>
              </a:rPr>
              <a:t>이스라엘은 여호수아가 살아 있는 동안과 여호수아보다 오래 산 장로들,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곧 여호와께서 이스라엘을 위해 하신 모든 일을 보아 알고 있는 장로들이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살아 있는 동안만 여호와를 섬겼습니다.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4663440"/>
            <a:ext cx="10213848" cy="17465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Israel served the LORD throughout the lifetime of Joshua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and of the elders who outlived him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and who had experienced everything the LORD had done for Israel.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27048" y="2606040"/>
            <a:ext cx="9144000" cy="1655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0">
                <a:solidFill>
                  <a:srgbClr val="FFFFFF"/>
                </a:solidFill>
                <a:latin typeface="나눔고딕"/>
              </a:defRPr>
            </a:pPr>
            <a:r>
              <a:t>사사기 2:7,10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832104"/>
            <a:ext cx="10972800" cy="6309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FFFFF"/>
                </a:solidFill>
                <a:latin typeface="나눔고딕"/>
              </a:defRPr>
            </a:pPr>
            <a:r>
              <a:t>사사기 Judges | 2:7,10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" y="2194560"/>
            <a:ext cx="8292655" cy="19389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7</a:t>
            </a:r>
            <a:br/>
            <a:r>
              <a:rPr sz="2400" b="1">
                <a:solidFill>
                  <a:srgbClr val="FFFFFF"/>
                </a:solidFill>
                <a:latin typeface="나눔고딕"/>
              </a:rPr>
              <a:t>백성들은 여호수아가 살아 있는 동안 그리고 여호수아 이후까지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살았던 장로들이 살아 있는 동안 여호와를 섬겼습니다.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장로들은 여호와께서 이스라엘을 위해 행하신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모든 위대한 일들을 본 사람들이었습니다.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4663440"/>
            <a:ext cx="9073318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The people served the LORD throughout the lifetime of Joshua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and of the elders who outlived him and who had seen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all the great things the LORD had done for Israel.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832104"/>
            <a:ext cx="10972800" cy="6309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FFFFF"/>
                </a:solidFill>
                <a:latin typeface="나눔고딕"/>
              </a:defRPr>
            </a:pPr>
            <a:r>
              <a:t>사사기 Judges | 2:7,10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" y="2194560"/>
            <a:ext cx="7629012" cy="15696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10</a:t>
            </a:r>
            <a:br/>
            <a:r>
              <a:rPr sz="2400" b="1">
                <a:solidFill>
                  <a:srgbClr val="FFFFFF"/>
                </a:solidFill>
                <a:latin typeface="나눔고딕"/>
              </a:rPr>
              <a:t>그 세대가 모두 조상 곁으로 돌아갔고 그들을 뒤이어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여호와를 모르고 여호와께서 이스라엘을 위해 행하신 일도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전혀 모르는 다른 세대가 자라났습니다.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4663440"/>
            <a:ext cx="8887369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After that whole generation had been gathered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to their fathers, another generation grew up,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who knew neither the LORD nor what he had done for Israel.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27048" y="2606040"/>
            <a:ext cx="9144000" cy="1655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0">
                <a:solidFill>
                  <a:srgbClr val="FFFFFF"/>
                </a:solidFill>
                <a:latin typeface="나눔고딕"/>
              </a:defRPr>
            </a:pPr>
            <a:r>
              <a:t>시편 78:3-8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832104"/>
            <a:ext cx="10972800" cy="6309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FFFFF"/>
                </a:solidFill>
                <a:latin typeface="나눔고딕"/>
              </a:defRPr>
            </a:pPr>
            <a:r>
              <a:t>시편 Psalms | 78:3-8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" y="2194560"/>
            <a:ext cx="108813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3</a:t>
            </a:r>
            <a:br/>
            <a:r>
              <a:rPr sz="2400" b="1">
                <a:solidFill>
                  <a:srgbClr val="FFFFFF"/>
                </a:solidFill>
                <a:latin typeface="나눔고딕"/>
              </a:rPr>
              <a:t>그것은 우리가 들어서 아는 것이고 우리 조상들이 우리에게 전해 준 것이다.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4663440"/>
            <a:ext cx="10213848" cy="17465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what we have heard and known, what our fathers have told us.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832104"/>
            <a:ext cx="10972800" cy="6309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FFFFF"/>
                </a:solidFill>
                <a:latin typeface="나눔고딕"/>
              </a:defRPr>
            </a:pPr>
            <a:r>
              <a:t>시편 Psalms | 78:3-8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" y="2194560"/>
            <a:ext cx="9619941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4</a:t>
            </a:r>
            <a:br/>
            <a:r>
              <a:rPr sz="2400" b="1">
                <a:solidFill>
                  <a:srgbClr val="FFFFFF"/>
                </a:solidFill>
                <a:latin typeface="나눔고딕"/>
              </a:rPr>
              <a:t>우리가 그것들을 자녀들에게 숨기지 않고 여호와께서 하신 훌륭한 일들과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그 능력과 그분이 하신 놀라운 일들을 다음 세대에 전해 줄 것이다.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4663440"/>
            <a:ext cx="11407290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We will not hide them from their children; we will tell the next generation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the praiseworthy deeds of the LORD, his power, and the wonders he has done.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832104"/>
            <a:ext cx="10972800" cy="6309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FFFFF"/>
                </a:solidFill>
                <a:latin typeface="나눔고딕"/>
              </a:defRPr>
            </a:pPr>
            <a:r>
              <a:t>시편 Psalms | 78:3-8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" y="2194560"/>
            <a:ext cx="9331401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5</a:t>
            </a:r>
            <a:br/>
            <a:r>
              <a:rPr sz="2400" b="1">
                <a:solidFill>
                  <a:srgbClr val="FFFFFF"/>
                </a:solidFill>
                <a:latin typeface="나눔고딕"/>
              </a:rPr>
              <a:t>그분은 야곱을 위해 계명을 세우시고 이스라엘을 위해 율법을 정하셔서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우리 조상들에게 그것을 자녀들에게 가르치라고 명령하셨다.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4663440"/>
            <a:ext cx="9169498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He decreed statutes for Jacob and established the law in Israel,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which he commanded our forefathers to teach their children,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832104"/>
            <a:ext cx="10972800" cy="6309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FFFFF"/>
                </a:solidFill>
                <a:latin typeface="나눔고딕"/>
              </a:defRPr>
            </a:pPr>
            <a:r>
              <a:t>시편 Psalms | 78:3-8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" y="2194560"/>
            <a:ext cx="10370147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6</a:t>
            </a:r>
            <a:br/>
            <a:r>
              <a:rPr sz="2400" b="1">
                <a:solidFill>
                  <a:srgbClr val="FFFFFF"/>
                </a:solidFill>
                <a:latin typeface="나눔고딕"/>
              </a:rPr>
              <a:t>그래서 다음 세대가 그것을 알고 아직 태어나지 않은 자녀들까지도 그것을 알며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또 그 자녀들에게도 전하도록 하셨다.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4663440"/>
            <a:ext cx="10985700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so the next generation would know them, even the children yet to be born,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and they in turn would tell their children.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832104"/>
            <a:ext cx="10972800" cy="6309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FFFFF"/>
                </a:solidFill>
                <a:latin typeface="나눔고딕"/>
              </a:defRPr>
            </a:pPr>
            <a:r>
              <a:t>시편 Psalms | 78:3-8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" y="2194560"/>
            <a:ext cx="8754320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7</a:t>
            </a:r>
            <a:br/>
            <a:r>
              <a:rPr sz="2400" b="1">
                <a:solidFill>
                  <a:srgbClr val="FFFFFF"/>
                </a:solidFill>
                <a:latin typeface="나눔고딕"/>
              </a:rPr>
              <a:t>그러면 그들이 하나님을 의지하고 그분이 하신 일들을 잊지 않으며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오직 그 계명을 지킬 것이고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4663440"/>
            <a:ext cx="10294806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Then they would put their trust in God and would not forget his deeds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but would keep his commands.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832104"/>
            <a:ext cx="10972800" cy="6309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FFFFF"/>
                </a:solidFill>
                <a:latin typeface="나눔고딕"/>
              </a:defRPr>
            </a:pPr>
            <a:r>
              <a:t>시편 Psalms | 78:3-8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" y="2194560"/>
            <a:ext cx="9914894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8</a:t>
            </a:r>
            <a:br/>
            <a:r>
              <a:rPr sz="2400" b="1">
                <a:solidFill>
                  <a:srgbClr val="FFFFFF"/>
                </a:solidFill>
                <a:latin typeface="나눔고딕"/>
              </a:rPr>
              <a:t>그 조상들처럼 고집 세고 반항적인 세대가 되지 않을 것이다.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그들의 마음은 하나님께 바르지 못했고 영으로도 하나님께 신실하지 못했다.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4663440"/>
            <a:ext cx="11179664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They would not be like their forefathers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-- a stubborn and rebellious generation, whose hearts were not loyal to God,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whose spirits were not faithful to him.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27048" y="2606040"/>
            <a:ext cx="9144000" cy="1655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0">
                <a:solidFill>
                  <a:srgbClr val="FFFFFF"/>
                </a:solidFill>
                <a:latin typeface="나눔고딕"/>
              </a:defRPr>
            </a:pPr>
            <a:r>
              <a:t>여호수아 24:31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832104"/>
            <a:ext cx="10972800" cy="6309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FFFFF"/>
                </a:solidFill>
                <a:latin typeface="나눔고딕"/>
              </a:defRPr>
            </a:pPr>
            <a:r>
              <a:t>여호수아 Joshua | 24:31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" y="2194560"/>
            <a:ext cx="108813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31</a:t>
            </a:r>
            <a:br/>
            <a:r>
              <a:rPr sz="2400" b="1">
                <a:solidFill>
                  <a:srgbClr val="FFFFFF"/>
                </a:solidFill>
                <a:latin typeface="나눔고딕"/>
              </a:rPr>
              <a:t>이스라엘은 여호수아가 살아 있는 동안과 여호수아보다 오래 산 장로들,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곧 여호와께서 이스라엘을 위해 하신 모든 일을 보아 알고 있는 장로들이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살아 있는 동안만 여호와를 섬겼습니다.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4663440"/>
            <a:ext cx="10213848" cy="17465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Israel served the LORD throughout the lifetime of Joshua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and of the elders who outlived him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and who had experienced everything the LORD had done for Israel.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27048" y="2606040"/>
            <a:ext cx="9144000" cy="1655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0">
                <a:solidFill>
                  <a:srgbClr val="FFFFFF"/>
                </a:solidFill>
                <a:latin typeface="나눔고딕"/>
              </a:defRPr>
            </a:pPr>
            <a:r>
              <a:t>여호수아 24:31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832104"/>
            <a:ext cx="10972800" cy="6309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FFFFF"/>
                </a:solidFill>
                <a:latin typeface="나눔고딕"/>
              </a:defRPr>
            </a:pPr>
            <a:r>
              <a:t>여호수아 Joshua | 24:31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" y="2194560"/>
            <a:ext cx="108813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31</a:t>
            </a:r>
            <a:br/>
            <a:r>
              <a:rPr sz="2400" b="1">
                <a:solidFill>
                  <a:srgbClr val="FFFFFF"/>
                </a:solidFill>
                <a:latin typeface="나눔고딕"/>
              </a:rPr>
              <a:t>이스라엘은 여호수아가 살아 있는 동안과 여호수아보다 오래 산 장로들,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곧 여호와께서 이스라엘을 위해 하신 모든 일을 보아 알고 있는 장로들이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살아 있는 동안만 여호와를 섬겼습니다.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4663440"/>
            <a:ext cx="10213848" cy="17465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Israel served the LORD throughout the lifetime of Joshua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and of the elders who outlived him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and who had experienced everything the LORD had done for Israel.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27048" y="2606040"/>
            <a:ext cx="9144000" cy="1655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0">
                <a:solidFill>
                  <a:srgbClr val="FFFFFF"/>
                </a:solidFill>
                <a:latin typeface="나눔고딕"/>
              </a:defRPr>
            </a:pPr>
            <a:r>
              <a:t>사사기 2:10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832104"/>
            <a:ext cx="10972800" cy="6309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FFFFF"/>
                </a:solidFill>
                <a:latin typeface="나눔고딕"/>
              </a:defRPr>
            </a:pPr>
            <a:r>
              <a:t>사사기 Judges | 2:10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" y="2194560"/>
            <a:ext cx="7629012" cy="15696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10</a:t>
            </a:r>
            <a:br/>
            <a:r>
              <a:rPr sz="2400" b="1">
                <a:solidFill>
                  <a:srgbClr val="FFFFFF"/>
                </a:solidFill>
                <a:latin typeface="나눔고딕"/>
              </a:rPr>
              <a:t>그 세대가 모두 조상 곁으로 돌아갔고 그들을 뒤이어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여호와를 모르고 여호와께서 이스라엘을 위해 행하신 일도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전혀 모르는 다른 세대가 자라났습니다.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4663440"/>
            <a:ext cx="8887369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After that whole generation had been gathered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to their fathers, another generation grew up,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who knew neither the LORD nor what he had done for Israel.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27048" y="2606040"/>
            <a:ext cx="9144000" cy="1655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0">
                <a:solidFill>
                  <a:srgbClr val="FFFFFF"/>
                </a:solidFill>
                <a:latin typeface="나눔고딕"/>
              </a:defRPr>
            </a:pPr>
            <a:r>
              <a:t>사사기 2:17-19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832104"/>
            <a:ext cx="10972800" cy="6309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FFFFF"/>
                </a:solidFill>
                <a:latin typeface="나눔고딕"/>
              </a:defRPr>
            </a:pPr>
            <a:r>
              <a:t>사사기 Judges | 2:17-19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" y="2194560"/>
            <a:ext cx="8292655" cy="19389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17</a:t>
            </a:r>
            <a:br/>
            <a:r>
              <a:rPr sz="2400" b="1">
                <a:solidFill>
                  <a:srgbClr val="FFFFFF"/>
                </a:solidFill>
                <a:latin typeface="나눔고딕"/>
              </a:rPr>
              <a:t>그러나 그들은 여전히 사사들에게 순종하지 않고 다른 신들에게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자기 자신을 팔고 숭배했습니다. 그들은 그들의 조상이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여호와의 명령을 지키며 걸어왔던 길에서 금세 돌아섰습니다.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그들은 그들의 조상들처럼 행하지 않았습니다.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4663440"/>
            <a:ext cx="10687541" cy="15696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Yet they would not listen to their judges but prostituted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themselves to other gods and worshiped them.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Unlike their fathers, they quickly turned from the way in which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their fathers had walked, the way of obedience to the LORD's commands.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832104"/>
            <a:ext cx="10972800" cy="6309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FFFFF"/>
                </a:solidFill>
                <a:latin typeface="나눔고딕"/>
              </a:defRPr>
            </a:pPr>
            <a:r>
              <a:t>사사기 Judges | 2:17-19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" y="2194560"/>
            <a:ext cx="8956298" cy="23083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18</a:t>
            </a:r>
            <a:br/>
            <a:r>
              <a:rPr sz="2400" b="1">
                <a:solidFill>
                  <a:srgbClr val="FFFFFF"/>
                </a:solidFill>
                <a:latin typeface="나눔고딕"/>
              </a:rPr>
              <a:t>여호와께서 그들에게 사사들을 세우셨을 때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여호와께서는 사사와 함께하실 뿐만 아니라 사사가 살아 있는 동안에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그들의 원수들의 손에서 이스라엘 자손들을 구해 주셨습니다.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이는 그들을 억압하고 핍박하는 사람들 밑에서 신음하는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이스라엘 자손을 여호와께서 불쌍히 여기셨기 때문입니다.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4663440"/>
            <a:ext cx="11046614" cy="15696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Whenever the LORD raised up a judge for them, he was with the judge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and saved them out of the hands of their enemies as long as the judge lived;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for the LORD had compassion on them as they groaned under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those who oppressed and afflicted them.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832104"/>
            <a:ext cx="10972800" cy="6309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FFFFF"/>
                </a:solidFill>
                <a:latin typeface="나눔고딕"/>
              </a:defRPr>
            </a:pPr>
            <a:r>
              <a:t>사사기 Judges | 2:17-19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" y="2194560"/>
            <a:ext cx="8097088" cy="15696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19</a:t>
            </a:r>
            <a:br/>
            <a:r>
              <a:rPr sz="2400" b="1">
                <a:solidFill>
                  <a:srgbClr val="FFFFFF"/>
                </a:solidFill>
                <a:latin typeface="나눔고딕"/>
              </a:rPr>
              <a:t>그러나 사사가 죽으면 그들은 되돌아서서 그들의 조상보다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더욱 타락해 다른 신들을 따르고 섬기며 그들을 숭배했습니다.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그들은 나쁜 행실과 고집스러운 습관을 버리지 않았습니다.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4663440"/>
            <a:ext cx="9010800" cy="15696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But when the judge died, the people returned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to ways even more corrupt than those of their fathers,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following other gods and serving and worshiping them.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They refused to give up their evil practices and stubborn ways.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27048" y="2606040"/>
            <a:ext cx="9144000" cy="1655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0">
                <a:solidFill>
                  <a:srgbClr val="FFFFFF"/>
                </a:solidFill>
                <a:latin typeface="나눔고딕"/>
              </a:defRPr>
            </a:pPr>
            <a:r>
              <a:t>마태복음 28:19-20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832104"/>
            <a:ext cx="10972800" cy="6309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FFFFF"/>
                </a:solidFill>
                <a:latin typeface="나눔고딕"/>
              </a:defRPr>
            </a:pPr>
            <a:r>
              <a:t>마태복음 Matthew | 28:19-20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" y="2194560"/>
            <a:ext cx="6186309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19</a:t>
            </a:r>
            <a:br/>
            <a:r>
              <a:rPr sz="2400" b="1">
                <a:solidFill>
                  <a:srgbClr val="FFFFFF"/>
                </a:solidFill>
                <a:latin typeface="나눔고딕"/>
              </a:rPr>
              <a:t>그러므로 너희는 가서 모든 민족을 제자로 삼아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아버지와 아들과 성령의 이름으로 세례를 주고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4663440"/>
            <a:ext cx="9176038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Therefore go and make disciples of all nations, baptizing them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in the name of the Father and of the Son and of the Holy Spirit,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832104"/>
            <a:ext cx="10972800" cy="6309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FFFFF"/>
                </a:solidFill>
                <a:latin typeface="나눔고딕"/>
              </a:defRPr>
            </a:pPr>
            <a:r>
              <a:t>마태복음 Matthew | 28:19-20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" y="2194560"/>
            <a:ext cx="8183651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20</a:t>
            </a:r>
            <a:br/>
            <a:r>
              <a:rPr sz="2400" b="1">
                <a:solidFill>
                  <a:srgbClr val="FFFFFF"/>
                </a:solidFill>
                <a:latin typeface="나눔고딕"/>
              </a:rPr>
              <a:t>내가 너희에게 명령한 모든 것을 그들에게 가르쳐 지키게 하라.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보라. 내가 세상 끝 날까지 너희와 항상 함께 있을 것이다.”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4663440"/>
            <a:ext cx="9084538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and teaching them to obey everything I have commanded you.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And surely I am with you always, to the very end of the age."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27048" y="2606040"/>
            <a:ext cx="9144000" cy="1655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0">
                <a:solidFill>
                  <a:srgbClr val="FFFFFF"/>
                </a:solidFill>
                <a:latin typeface="나눔고딕"/>
              </a:defRPr>
            </a:pPr>
            <a:r>
              <a:t>사도행전 1:8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832104"/>
            <a:ext cx="10972800" cy="6309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FFFFF"/>
                </a:solidFill>
                <a:latin typeface="나눔고딕"/>
              </a:defRPr>
            </a:pPr>
            <a:r>
              <a:t>사도행전 Acts | 1:8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" y="2194560"/>
            <a:ext cx="108813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8</a:t>
            </a:r>
            <a:br/>
            <a:r>
              <a:rPr sz="2400" b="1">
                <a:solidFill>
                  <a:srgbClr val="FFFFFF"/>
                </a:solidFill>
                <a:latin typeface="나눔고딕"/>
              </a:rPr>
              <a:t>그러나 성령께서 너희에게 오시면 너희가 권능을 받고 예루살렘과 온 유대와 사마리아와 땅 끝까지 이르러 내 증인이 될 것이다.”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4663440"/>
            <a:ext cx="10213848" cy="17465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But you will receive power when the Holy Spirit comes on you; and you will be my witnesses in Jerusalem, and in all Judea and Samaria, and to the ends of the earth."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27048" y="2606040"/>
            <a:ext cx="9144000" cy="1655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0">
                <a:solidFill>
                  <a:srgbClr val="FFFFFF"/>
                </a:solidFill>
                <a:latin typeface="나눔고딕"/>
              </a:defRPr>
            </a:pPr>
            <a:r>
              <a:t>디모데후서 2:2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832104"/>
            <a:ext cx="10972800" cy="6309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FFFFF"/>
                </a:solidFill>
                <a:latin typeface="나눔고딕"/>
              </a:defRPr>
            </a:pPr>
            <a:r>
              <a:t>디모데후서 2 Timothy | 2:2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" y="2194560"/>
            <a:ext cx="7513595" cy="15696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2</a:t>
            </a:r>
            <a:br/>
            <a:r>
              <a:rPr sz="2400" b="1">
                <a:solidFill>
                  <a:srgbClr val="FFFFFF"/>
                </a:solidFill>
                <a:latin typeface="나눔고딕"/>
              </a:rPr>
              <a:t>그리고 그대는 많은 증인 앞에서 내가 말한 것을 들었으니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이를 신실한 사람들에게 맡겨라.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그러면 그들이 또 다른 사람들을 가르칠 수 있을 것이다.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4663440"/>
            <a:ext cx="10482357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And the things you have heard me say in the presence of many witnesses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entrust to reliable men who will also be qualified to teach others.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27048" y="2606040"/>
            <a:ext cx="9144000" cy="1655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0">
                <a:solidFill>
                  <a:srgbClr val="FFFFFF"/>
                </a:solidFill>
                <a:latin typeface="나눔고딕"/>
              </a:defRPr>
            </a:pPr>
            <a:r>
              <a:t>신명기 6:1-9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832104"/>
            <a:ext cx="10972800" cy="6309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FFFFF"/>
                </a:solidFill>
                <a:latin typeface="나눔고딕"/>
              </a:defRPr>
            </a:pPr>
            <a:r>
              <a:t>신명기 Deuteronomy | 6:1-9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" y="2194560"/>
            <a:ext cx="108813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﻿1</a:t>
            </a:r>
            <a:br/>
            <a:r>
              <a:rPr sz="2400" b="1">
                <a:solidFill>
                  <a:srgbClr val="FFFFFF"/>
                </a:solidFill>
                <a:latin typeface="나눔고딕"/>
              </a:rPr>
              <a:t>“이것은 너희 하나님 여호와께서 내게 지시해 너희에게 가르치라고 하신 그 명령과 규례와 법도니 너희가 요단 강을 건너가 차지할 그 땅에서 너희가 지켜야 할 것이다.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4663440"/>
            <a:ext cx="10213848" cy="17465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These are the commands, decrees and laws the LORD your God directed me to teach you to observe in the land that you are crossing the Jordan to possess,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832104"/>
            <a:ext cx="10972800" cy="6309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FFFFF"/>
                </a:solidFill>
                <a:latin typeface="나눔고딕"/>
              </a:defRPr>
            </a:pPr>
            <a:r>
              <a:t>신명기 Deuteronomy | 6:1-9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" y="2194560"/>
            <a:ext cx="108813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2</a:t>
            </a:r>
            <a:br/>
            <a:r>
              <a:rPr sz="2400" b="1">
                <a:solidFill>
                  <a:srgbClr val="FFFFFF"/>
                </a:solidFill>
                <a:latin typeface="나눔고딕"/>
              </a:rPr>
              <a:t>그래야 너희와 너희 자손들과 그들 뒤의 자손들이 내가 너희에게 주는 그분의 모든 규례와 명령을 지켜 너희가 사는 동안 너희 하나님 여호와를 경외하게 될 것이고 그러면 너희가 오래오래 살 수 있게 될 것이다.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4663440"/>
            <a:ext cx="10213848" cy="17465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so that you, your children and their children after them may fear the LORD your God as long as you live by keeping all his decrees and commands that I give you, and so that you may enjoy long life.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832104"/>
            <a:ext cx="10972800" cy="6309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FFFFF"/>
                </a:solidFill>
                <a:latin typeface="나눔고딕"/>
              </a:defRPr>
            </a:pPr>
            <a:r>
              <a:t>신명기 Deuteronomy | 6:1-9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" y="2194560"/>
            <a:ext cx="108813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3</a:t>
            </a:r>
            <a:br/>
            <a:r>
              <a:rPr sz="2400" b="1">
                <a:solidFill>
                  <a:srgbClr val="FFFFFF"/>
                </a:solidFill>
                <a:latin typeface="나눔고딕"/>
              </a:rPr>
              <a:t>이스라엘아, 듣고 삼가 지키라. 그러면 너희 조상들의 하나님 여호와께서 너희에게 약속하신 대로 너희가 잘되고 젖과 꿀이 흐르는 그 땅에서 번창할 것이다.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4663440"/>
            <a:ext cx="10213848" cy="17465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Hear, O Israel, and be careful to obey so that it may go well with you and that you may increase greatly in a land flowing with milk and honey, just as the LORD, the God of your fathers, promised you.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832104"/>
            <a:ext cx="10972800" cy="6309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FFFFF"/>
                </a:solidFill>
                <a:latin typeface="나눔고딕"/>
              </a:defRPr>
            </a:pPr>
            <a:r>
              <a:t>신명기 Deuteronomy | 6:1-9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" y="2194560"/>
            <a:ext cx="108813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4</a:t>
            </a:r>
            <a:br/>
            <a:r>
              <a:rPr sz="2400" b="1">
                <a:solidFill>
                  <a:srgbClr val="FFFFFF"/>
                </a:solidFill>
                <a:latin typeface="나눔고딕"/>
              </a:rPr>
              <a:t>이스라엘아, 들으라. 우리 하나님 여호와는 오직 한 분인 여호와시다.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4663440"/>
            <a:ext cx="10213848" cy="17465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Hear, O Israel: The LORD our God, the LORD is one.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832104"/>
            <a:ext cx="10972800" cy="6309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FFFFF"/>
                </a:solidFill>
                <a:latin typeface="나눔고딕"/>
              </a:defRPr>
            </a:pPr>
            <a:r>
              <a:t>신명기 Deuteronomy | 6:1-9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" y="2194560"/>
            <a:ext cx="108813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5</a:t>
            </a:r>
            <a:br/>
            <a:r>
              <a:rPr sz="2400" b="1">
                <a:solidFill>
                  <a:srgbClr val="FFFFFF"/>
                </a:solidFill>
                <a:latin typeface="나눔고딕"/>
              </a:rPr>
              <a:t>너는 네 온 마음을 다하고 영혼을 다하고 힘을 다해서 네 하나님 여호와를 사랑하여라.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4663440"/>
            <a:ext cx="10213848" cy="17465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Love the LORD your God with all your heart and with all your soul and with all your strength.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832104"/>
            <a:ext cx="10972800" cy="6309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FFFFF"/>
                </a:solidFill>
                <a:latin typeface="나눔고딕"/>
              </a:defRPr>
            </a:pPr>
            <a:r>
              <a:t>신명기 Deuteronomy | 6:1-9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" y="2194560"/>
            <a:ext cx="108813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6</a:t>
            </a:r>
            <a:br/>
            <a:r>
              <a:rPr sz="2400" b="1">
                <a:solidFill>
                  <a:srgbClr val="FFFFFF"/>
                </a:solidFill>
                <a:latin typeface="나눔고딕"/>
              </a:rPr>
              <a:t>내가 오늘 너희에게 주는 이 명령들을 네 마음에 새겨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4663440"/>
            <a:ext cx="10213848" cy="17465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These commandments that I give you today are to be upon your hearts.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832104"/>
            <a:ext cx="10972800" cy="6309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FFFFF"/>
                </a:solidFill>
                <a:latin typeface="나눔고딕"/>
              </a:defRPr>
            </a:pPr>
            <a:r>
              <a:t>신명기 Deuteronomy | 6:1-9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" y="2194560"/>
            <a:ext cx="108813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7</a:t>
            </a:r>
            <a:br/>
            <a:r>
              <a:rPr sz="2400" b="1">
                <a:solidFill>
                  <a:srgbClr val="FFFFFF"/>
                </a:solidFill>
                <a:latin typeface="나눔고딕"/>
              </a:rPr>
              <a:t>너희 자녀들에게 잘 가르치되 너희가 집에 앉아 있을 때나 길을 걸을 때나 누울 때나 일어날 때 그들에게 말해 주라.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4663440"/>
            <a:ext cx="10213848" cy="17465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Impress them on your children. Talk about them when you sit at home and when you walk along the road, when you lie down and when you get up.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832104"/>
            <a:ext cx="10972800" cy="6309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FFFFF"/>
                </a:solidFill>
                <a:latin typeface="나눔고딕"/>
              </a:defRPr>
            </a:pPr>
            <a:r>
              <a:t>신명기 Deuteronomy | 6:1-9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" y="2194560"/>
            <a:ext cx="108813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8</a:t>
            </a:r>
            <a:br/>
            <a:r>
              <a:rPr sz="2400" b="1">
                <a:solidFill>
                  <a:srgbClr val="FFFFFF"/>
                </a:solidFill>
                <a:latin typeface="나눔고딕"/>
              </a:rPr>
              <a:t>또 너는 그것들을 네 손목에 매고 네 이마에 둘러라.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4663440"/>
            <a:ext cx="10213848" cy="17465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Tie them as symbols on your hands and bind them on your foreheads.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832104"/>
            <a:ext cx="10972800" cy="6309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FFFFF"/>
                </a:solidFill>
                <a:latin typeface="나눔고딕"/>
              </a:defRPr>
            </a:pPr>
            <a:r>
              <a:t>신명기 Deuteronomy | 6:1-9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" y="2194560"/>
            <a:ext cx="108813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9</a:t>
            </a:r>
            <a:br/>
            <a:r>
              <a:rPr sz="2400" b="1">
                <a:solidFill>
                  <a:srgbClr val="FFFFFF"/>
                </a:solidFill>
                <a:latin typeface="나눔고딕"/>
              </a:rPr>
              <a:t>그것들을 너희 집 문설주와 대문에 적어 두라.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4663440"/>
            <a:ext cx="10213848" cy="17465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Write them on the doorframes of your houses and on your gates.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27048" y="2606040"/>
            <a:ext cx="9144000" cy="1655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0">
                <a:solidFill>
                  <a:srgbClr val="FFFFFF"/>
                </a:solidFill>
                <a:latin typeface="나눔고딕"/>
              </a:defRPr>
            </a:pPr>
            <a:r>
              <a:t>잠언 1:8-9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832104"/>
            <a:ext cx="10972800" cy="6309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FFFFF"/>
                </a:solidFill>
                <a:latin typeface="나눔고딕"/>
              </a:defRPr>
            </a:pPr>
            <a:r>
              <a:t>잠언 Proverbs | 1:8-9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" y="2194560"/>
            <a:ext cx="108813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8</a:t>
            </a:r>
            <a:br/>
            <a:r>
              <a:rPr sz="2400" b="1">
                <a:solidFill>
                  <a:srgbClr val="FFFFFF"/>
                </a:solidFill>
                <a:latin typeface="나눔고딕"/>
              </a:rPr>
              <a:t>내 아들아, 네 아버지의 교훈을 잘 듣고 네 어머니의 가르침을 버리지 마라.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4663440"/>
            <a:ext cx="6048194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Listen, my son, to your father's instruction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and do not forsake your mother's teaching.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832104"/>
            <a:ext cx="10972800" cy="6309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FFFFF"/>
                </a:solidFill>
                <a:latin typeface="나눔고딕"/>
              </a:defRPr>
            </a:pPr>
            <a:r>
              <a:t>잠언 Proverbs | 1:8-9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" y="2194560"/>
            <a:ext cx="108813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9</a:t>
            </a:r>
            <a:br/>
            <a:r>
              <a:rPr sz="2400" b="1">
                <a:solidFill>
                  <a:srgbClr val="FFFFFF"/>
                </a:solidFill>
                <a:latin typeface="나눔고딕"/>
              </a:rPr>
              <a:t>그것은 네 머리의 아름다운 화관이요, 네 목에 두를 목걸이다.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4663440"/>
            <a:ext cx="5813707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They will be a garland to grace your head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and a chain to adorn your neck.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27048" y="2606040"/>
            <a:ext cx="9144000" cy="1655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0">
                <a:solidFill>
                  <a:srgbClr val="FFFFFF"/>
                </a:solidFill>
                <a:latin typeface="나눔고딕"/>
              </a:defRPr>
            </a:pPr>
            <a:r>
              <a:t>고린도전서 16:20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832104"/>
            <a:ext cx="10972800" cy="6309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FFFFF"/>
                </a:solidFill>
                <a:latin typeface="나눔고딕"/>
              </a:defRPr>
            </a:pPr>
            <a:r>
              <a:t>고린도전서 1 Corinthians | 16:20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" y="2194560"/>
            <a:ext cx="108813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20</a:t>
            </a:r>
            <a:br/>
            <a:r>
              <a:rPr sz="2400" b="1">
                <a:solidFill>
                  <a:srgbClr val="FFFFFF"/>
                </a:solidFill>
                <a:latin typeface="나눔고딕"/>
              </a:rPr>
              <a:t>여기 있는 모든 형제들이 여러분에게 안부를 전합니다.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거룩한 입맞춤으로 서로 인사하십시오.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4663440"/>
            <a:ext cx="10213848" cy="17465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All the brothers here send you greetings.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Greet one another with a holy kiss.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27048" y="2606040"/>
            <a:ext cx="9144000" cy="1655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0">
                <a:solidFill>
                  <a:srgbClr val="FFFFFF"/>
                </a:solidFill>
                <a:latin typeface="나눔고딕"/>
              </a:defRPr>
            </a:pPr>
            <a:r>
              <a:t>고린도후서 3:11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832104"/>
            <a:ext cx="10972800" cy="6309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FFFFF"/>
                </a:solidFill>
                <a:latin typeface="나눔고딕"/>
              </a:defRPr>
            </a:pPr>
            <a:r>
              <a:t>고린도후서 2 Corinthians | 3:11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" y="2194560"/>
            <a:ext cx="108813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11</a:t>
            </a:r>
            <a:br/>
            <a:r>
              <a:rPr sz="2400" b="1">
                <a:solidFill>
                  <a:srgbClr val="FFFFFF"/>
                </a:solidFill>
                <a:latin typeface="나눔고딕"/>
              </a:rPr>
              <a:t>사라져 버릴 것도 영광스러웠다면 영원한 것은 더욱 영광 가운데 있을 것입니다.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4663440"/>
            <a:ext cx="10213848" cy="17465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And if what was fading away came with glory,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how much greater is the glory of that which lasts!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27048" y="2606040"/>
            <a:ext cx="9144000" cy="1655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0">
                <a:solidFill>
                  <a:srgbClr val="FFFFFF"/>
                </a:solidFill>
                <a:latin typeface="나눔고딕"/>
              </a:defRPr>
            </a:pPr>
            <a:r>
              <a:t>히브리서 10:24-25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832104"/>
            <a:ext cx="10972800" cy="6309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FFFFF"/>
                </a:solidFill>
                <a:latin typeface="나눔고딕"/>
              </a:defRPr>
            </a:pPr>
            <a:r>
              <a:t>히브리서 Hebrews | 10:24-25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" y="2194560"/>
            <a:ext cx="4368504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24</a:t>
            </a:r>
            <a:br/>
            <a:r>
              <a:rPr sz="2400" b="1">
                <a:solidFill>
                  <a:srgbClr val="FFFFFF"/>
                </a:solidFill>
                <a:latin typeface="나눔고딕"/>
              </a:rPr>
              <a:t>또한 우리는 사랑과 선한 일들을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격려하기 위해 서로 돌아봅시다.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4663440"/>
            <a:ext cx="7433445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And let us consider how we may spur one another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on toward love and good deeds.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832104"/>
            <a:ext cx="10972800" cy="6309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FFFFF"/>
                </a:solidFill>
                <a:latin typeface="나눔고딕"/>
              </a:defRPr>
            </a:pPr>
            <a:r>
              <a:t>히브리서 Hebrews | 10:24-25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" y="2194560"/>
            <a:ext cx="108813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25</a:t>
            </a:r>
            <a:br/>
            <a:r>
              <a:rPr sz="2400" b="1">
                <a:solidFill>
                  <a:srgbClr val="FFFFFF"/>
                </a:solidFill>
                <a:latin typeface="나눔고딕"/>
              </a:rPr>
              <a:t>어떤 사람들의 습관과 같이 우리들 스스로 모이는 일을 소홀히 하지 말고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오히려 서로 권면합시다. 또한 그날이 다가오는 것을 볼수록 더욱 그렇게 합시다.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4663440"/>
            <a:ext cx="10330072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Let us not give up meeting together, as some are in the habit of doing,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but let us encourage one another --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and all the more as you see the Day approaching.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27048" y="2606040"/>
            <a:ext cx="9144000" cy="1655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0">
                <a:solidFill>
                  <a:srgbClr val="FFFFFF"/>
                </a:solidFill>
                <a:latin typeface="나눔고딕"/>
              </a:defRPr>
            </a:pPr>
            <a:r>
              <a:t>갈라디아서 6:2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832104"/>
            <a:ext cx="10972800" cy="6309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FFFFF"/>
                </a:solidFill>
                <a:latin typeface="나눔고딕"/>
              </a:defRPr>
            </a:pPr>
            <a:r>
              <a:t>갈라디아서 Galatians | 6:2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" y="2194560"/>
            <a:ext cx="8385629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2</a:t>
            </a:r>
            <a:br/>
            <a:r>
              <a:rPr sz="2400" b="1">
                <a:solidFill>
                  <a:srgbClr val="FFFFFF"/>
                </a:solidFill>
                <a:latin typeface="나눔고딕"/>
              </a:rPr>
              <a:t>여러분은 서로 짐을 나눠 지십시오.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그렇게 하므로 여러분은 그리스도의 법을 완성하게 될 것입니다.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4663440"/>
            <a:ext cx="6808274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Carry each other's burdens,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and in this way you will fulfill the law of Christ.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27048" y="2606040"/>
            <a:ext cx="9144000" cy="1655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0">
                <a:solidFill>
                  <a:srgbClr val="FFFFFF"/>
                </a:solidFill>
                <a:latin typeface="나눔고딕"/>
              </a:defRPr>
            </a:pPr>
            <a:r>
              <a:t>골로새서 3:12-14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832104"/>
            <a:ext cx="10972800" cy="6309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FFFFF"/>
                </a:solidFill>
                <a:latin typeface="나눔고딕"/>
              </a:defRPr>
            </a:pPr>
            <a:r>
              <a:t>골로새서 Colossians | 3:12-14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" y="2194560"/>
            <a:ext cx="8379217" cy="15696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12</a:t>
            </a:r>
            <a:br/>
            <a:r>
              <a:rPr sz="2400" b="1">
                <a:solidFill>
                  <a:srgbClr val="FFFFFF"/>
                </a:solidFill>
                <a:latin typeface="나눔고딕"/>
              </a:rPr>
              <a:t>그러므로 여러분은 하나님께서 택하신 사람들,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곧 거룩하고 사랑하심을 받은 사람들같이 긍휼과 친절과 겸손과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온유와 오래 참음으로 옷 입으십시오.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4663440"/>
            <a:ext cx="8478603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Therefore, as God's chosen people, holy and dearly loved,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clothe yourselves with compassion, kindness,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humility, gentleness and patience.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832104"/>
            <a:ext cx="10972800" cy="6309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FFFFF"/>
                </a:solidFill>
                <a:latin typeface="나눔고딕"/>
              </a:defRPr>
            </a:pPr>
            <a:r>
              <a:t>골로새서 Colossians | 3:12-14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" y="2194560"/>
            <a:ext cx="9712915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13</a:t>
            </a:r>
            <a:br/>
            <a:r>
              <a:rPr sz="2400" b="1">
                <a:solidFill>
                  <a:srgbClr val="FFFFFF"/>
                </a:solidFill>
                <a:latin typeface="나눔고딕"/>
              </a:rPr>
              <a:t>누가 누구에게 불평거리가 있더라도 서로 용납하고 서로 용서해 주십시오.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주께서 여러분을 용서하신 것같이 여러분도 그렇게 하십시오.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4663440"/>
            <a:ext cx="9807493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Bear with each other and forgive whatever grievances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you may have against one another. Forgive as the Lord forgave you.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832104"/>
            <a:ext cx="10972800" cy="6309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FFFFF"/>
                </a:solidFill>
                <a:latin typeface="나눔고딕"/>
              </a:defRPr>
            </a:pPr>
            <a:r>
              <a:t>골로새서 Colossians | 3:12-14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" y="2194560"/>
            <a:ext cx="5788764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14</a:t>
            </a:r>
            <a:br/>
            <a:r>
              <a:rPr sz="2400" b="1">
                <a:solidFill>
                  <a:srgbClr val="FFFFFF"/>
                </a:solidFill>
                <a:latin typeface="나눔고딕"/>
              </a:rPr>
              <a:t>그리고 이 모든 것 위에 사랑을 더하십시오.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사랑은 온전하게 묶는 띠입니다.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4663440"/>
            <a:ext cx="6761787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And over all these virtues put on love,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which binds them all together in perfect unity.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27048" y="2606040"/>
            <a:ext cx="9144000" cy="1655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0">
                <a:solidFill>
                  <a:srgbClr val="FFFFFF"/>
                </a:solidFill>
                <a:latin typeface="나눔고딕"/>
              </a:defRPr>
            </a:pPr>
            <a:r>
              <a:t>사도행전 14:1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832104"/>
            <a:ext cx="10972800" cy="6309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FFFFF"/>
                </a:solidFill>
                <a:latin typeface="나눔고딕"/>
              </a:defRPr>
            </a:pPr>
            <a:r>
              <a:t>사도행전 Acts | 14:1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" y="2194560"/>
            <a:ext cx="108813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﻿1</a:t>
            </a:r>
            <a:br/>
            <a:r>
              <a:rPr sz="2400" b="1">
                <a:solidFill>
                  <a:srgbClr val="FFFFFF"/>
                </a:solidFill>
                <a:latin typeface="나눔고딕"/>
              </a:rPr>
              <a:t>이고니온에서도 바울과 바나바는 유대 사람의 회당에 들어가 복음을 전했습니다. 그러자 많은 수의 유대 사람들과 이방 사람들이 믿게 됐습니다.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4663440"/>
            <a:ext cx="10213848" cy="17465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At Iconium Paul and Barnabas went as usual into the Jewish synagogue. There they spoke so effectively that a great number of Jews and Gentiles believed.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27048" y="2606040"/>
            <a:ext cx="9144000" cy="1655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0">
                <a:solidFill>
                  <a:srgbClr val="FFFFFF"/>
                </a:solidFill>
                <a:latin typeface="나눔고딕"/>
              </a:defRPr>
            </a:pPr>
            <a:r>
              <a:t>사도행전 13:44-14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27048" y="2606040"/>
            <a:ext cx="9144000" cy="1655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0">
                <a:solidFill>
                  <a:srgbClr val="FFFFFF"/>
                </a:solidFill>
                <a:latin typeface="나눔고딕"/>
              </a:defRPr>
            </a:pPr>
            <a:r>
              <a:t>디모데후서 2:1-2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832104"/>
            <a:ext cx="10972800" cy="6309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FFFFF"/>
                </a:solidFill>
                <a:latin typeface="나눔고딕"/>
              </a:defRPr>
            </a:pPr>
            <a:r>
              <a:t>디모데후서 2 Timothy | 2:1-2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" y="2194560"/>
            <a:ext cx="6567824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﻿1</a:t>
            </a:r>
            <a:br/>
            <a:r>
              <a:rPr sz="2400" b="1">
                <a:solidFill>
                  <a:srgbClr val="FFFFFF"/>
                </a:solidFill>
                <a:latin typeface="나눔고딕"/>
              </a:rPr>
              <a:t>그러므로 내 아들아,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그대는 그리스도 예수 안에 있는 은혜로 굳세어라.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4663440"/>
            <a:ext cx="6421951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You then, my son,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be strong in the grace that is in Christ Jesus.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832104"/>
            <a:ext cx="10972800" cy="6309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FFFFF"/>
                </a:solidFill>
                <a:latin typeface="나눔고딕"/>
              </a:defRPr>
            </a:pPr>
            <a:r>
              <a:t>디모데후서 2 Timothy | 2:1-2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" y="2194560"/>
            <a:ext cx="7513595" cy="15696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2</a:t>
            </a:r>
            <a:br/>
            <a:r>
              <a:rPr sz="2400" b="1">
                <a:solidFill>
                  <a:srgbClr val="FFFFFF"/>
                </a:solidFill>
                <a:latin typeface="나눔고딕"/>
              </a:rPr>
              <a:t>그리고 그대는 많은 증인 앞에서 내가 말한 것을 들었으니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이를 신실한 사람들에게 맡겨라.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그러면 그들이 또 다른 사람들을 가르칠 수 있을 것이다.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4663440"/>
            <a:ext cx="10482357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And the things you have heard me say in the presence of many witnesses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entrust to reliable men who will also be qualified to teach others.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27048" y="2606040"/>
            <a:ext cx="9144000" cy="1655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0">
                <a:solidFill>
                  <a:srgbClr val="FFFFFF"/>
                </a:solidFill>
                <a:latin typeface="나눔고딕"/>
              </a:defRPr>
            </a:pPr>
            <a:r>
              <a:t>창세기 14:14-16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832104"/>
            <a:ext cx="10972800" cy="6309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FFFFF"/>
                </a:solidFill>
                <a:latin typeface="나눔고딕"/>
              </a:defRPr>
            </a:pPr>
            <a:r>
              <a:t>창세기 Genesis | 14:14-16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" y="2194560"/>
            <a:ext cx="108813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14</a:t>
            </a:r>
            <a:br/>
            <a:r>
              <a:rPr sz="2400" b="1">
                <a:solidFill>
                  <a:srgbClr val="FFFFFF"/>
                </a:solidFill>
                <a:latin typeface="나눔고딕"/>
              </a:rPr>
              <a:t>아브람은 자기 조카가 포로로 잡혀 갔다는 소식을 듣자 자기 집에서 낳아 훈련받은 사람 318명을 거느리고 단까지 쫓아갔습니다.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4663440"/>
            <a:ext cx="10213848" cy="17465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When Abram heard that his relative had been taken captive, he called out the 318 trained men born in his household and went in pursuit as far as Dan.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832104"/>
            <a:ext cx="10972800" cy="6309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FFFFF"/>
                </a:solidFill>
                <a:latin typeface="나눔고딕"/>
              </a:defRPr>
            </a:pPr>
            <a:r>
              <a:t>창세기 Genesis | 14:14-16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" y="2194560"/>
            <a:ext cx="108813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15</a:t>
            </a:r>
            <a:br/>
            <a:r>
              <a:rPr sz="2400" b="1">
                <a:solidFill>
                  <a:srgbClr val="FFFFFF"/>
                </a:solidFill>
                <a:latin typeface="나눔고딕"/>
              </a:rPr>
              <a:t>한밤중에 아브람은 그의 종들을 나눠 그들을 공격해 쳐부쉈습니다. 다메섹 북쪽에 있는 호바까지 그들을 추격해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4663440"/>
            <a:ext cx="10213848" cy="17465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During the night Abram divided his men to attack them and he routed them, pursuing them as far as Hobah, north of Damascus.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832104"/>
            <a:ext cx="10972800" cy="6309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FFFFF"/>
                </a:solidFill>
                <a:latin typeface="나눔고딕"/>
              </a:defRPr>
            </a:pPr>
            <a:r>
              <a:t>창세기 Genesis | 14:14-16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" y="2194560"/>
            <a:ext cx="108813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16</a:t>
            </a:r>
            <a:br/>
            <a:r>
              <a:rPr sz="2400" b="1">
                <a:solidFill>
                  <a:srgbClr val="FFFFFF"/>
                </a:solidFill>
                <a:latin typeface="나눔고딕"/>
              </a:rPr>
              <a:t>모든 물건들을 되찾고 그의 조카 롯과 롯의 소유뿐 아니라 부녀자들과 다른 사람들까지 모두 찾아왔습니다.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4663440"/>
            <a:ext cx="10213848" cy="17465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He recovered all the goods and brought back his relative Lot and his possessions, together with the women and the other people.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27048" y="2606040"/>
            <a:ext cx="9144000" cy="1655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0">
                <a:solidFill>
                  <a:srgbClr val="FFFFFF"/>
                </a:solidFill>
                <a:latin typeface="나눔고딕"/>
              </a:defRPr>
            </a:pPr>
            <a:r>
              <a:t>사도행전 16:12-15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832104"/>
            <a:ext cx="10972800" cy="6309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FFFFF"/>
                </a:solidFill>
                <a:latin typeface="나눔고딕"/>
              </a:defRPr>
            </a:pPr>
            <a:r>
              <a:t>사도행전 Acts | 16:12-15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" y="2194560"/>
            <a:ext cx="108813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12</a:t>
            </a:r>
            <a:br/>
            <a:r>
              <a:rPr sz="2400" b="1">
                <a:solidFill>
                  <a:srgbClr val="FFFFFF"/>
                </a:solidFill>
                <a:latin typeface="나눔고딕"/>
              </a:rPr>
              <a:t>그곳에서 우리는 로마의 식민지로서 마케도니아 지방에서 첫째가는 도시인 빌립보에 들어갔습니다. 우리는 그곳에서 며칠을 머물렀습니다.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4663440"/>
            <a:ext cx="10213848" cy="17465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From there we traveled to Philippi, a Roman colony and the leading city of that district of Macedonia. And we stayed there several days.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832104"/>
            <a:ext cx="10972800" cy="6309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FFFFF"/>
                </a:solidFill>
                <a:latin typeface="나눔고딕"/>
              </a:defRPr>
            </a:pPr>
            <a:r>
              <a:t>사도행전 Acts | 16:12-15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" y="2194560"/>
            <a:ext cx="108813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13</a:t>
            </a:r>
            <a:br/>
            <a:r>
              <a:rPr sz="2400" b="1">
                <a:solidFill>
                  <a:srgbClr val="FFFFFF"/>
                </a:solidFill>
                <a:latin typeface="나눔고딕"/>
              </a:rPr>
              <a:t>안식일에 우리는 혹 기도할 곳을 찾을 수 있지 않을까 하는 기대감으로 성문 밖 강가로 나갔습니다. 우리는 그곳에 앉아서 거기 모여 있던 여인들에게 말씀을 전했습니다.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4663440"/>
            <a:ext cx="10213848" cy="17465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On the Sabbath we went outside the city gate to the river, where we expected to find a place of prayer. We sat down and began to speak to the women who had gathered there.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832104"/>
            <a:ext cx="10972800" cy="6309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FFFFF"/>
                </a:solidFill>
                <a:latin typeface="나눔고딕"/>
              </a:defRPr>
            </a:pPr>
            <a:r>
              <a:t>사도행전 Acts | 16:12-15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" y="2194560"/>
            <a:ext cx="108813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14</a:t>
            </a:r>
            <a:br/>
            <a:r>
              <a:rPr sz="2400" b="1">
                <a:solidFill>
                  <a:srgbClr val="FFFFFF"/>
                </a:solidFill>
                <a:latin typeface="나눔고딕"/>
              </a:rPr>
              <a:t>말씀을 듣던 사람들 가운데 루디아라는 여인이 있었습니다. 그 여인은 두아디라 도시에서 온 자주색 옷감 장수로서 하나님을 경외하는 사람이었습니다. 주께서 그 마음을 열어 바울의 말에 귀 기울이게 하셨습니다.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4663440"/>
            <a:ext cx="10213848" cy="17465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One of those listening was a woman named Lydia, a dealer in purple cloth from the city of Thyatira, who was a worshiper of God. The Lord opened her heart to respond to Paul's message.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832104"/>
            <a:ext cx="10972800" cy="6309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FFFFF"/>
                </a:solidFill>
                <a:latin typeface="나눔고딕"/>
              </a:defRPr>
            </a:pPr>
            <a:r>
              <a:t>사도행전 Acts | 16:12-15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" y="2194560"/>
            <a:ext cx="108813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15</a:t>
            </a:r>
            <a:br/>
            <a:r>
              <a:rPr sz="2400" b="1">
                <a:solidFill>
                  <a:srgbClr val="FFFFFF"/>
                </a:solidFill>
                <a:latin typeface="나눔고딕"/>
              </a:rPr>
              <a:t>루디아는 그 집안 식구들과 함께 세례를 받고 “저를 참된 신자로 여기신다면 제 집에 오셔서 머물러 주십시오” 하고 간청하면서 우리를 자기 집으로 데리고 갔습니다.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4663440"/>
            <a:ext cx="10213848" cy="17465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When she and the members of her household were baptized, she invited us to her home. "If you consider me a believer in the Lord," she said, "come and stay at my house." And she persuaded us.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27048" y="2606040"/>
            <a:ext cx="9144000" cy="1655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0">
                <a:solidFill>
                  <a:srgbClr val="FFFFFF"/>
                </a:solidFill>
                <a:latin typeface="나눔고딕"/>
              </a:defRPr>
            </a:pPr>
            <a:r>
              <a:t>마태복음 16:18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832104"/>
            <a:ext cx="10972800" cy="6309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FFFFF"/>
                </a:solidFill>
                <a:latin typeface="나눔고딕"/>
              </a:defRPr>
            </a:pPr>
            <a:r>
              <a:t>마태복음 Matthew | 16:18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" y="2194560"/>
            <a:ext cx="11011348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18</a:t>
            </a:r>
            <a:br/>
            <a:r>
              <a:rPr sz="2400" b="1">
                <a:solidFill>
                  <a:srgbClr val="FFFFFF"/>
                </a:solidFill>
                <a:latin typeface="나눔고딕"/>
              </a:rPr>
              <a:t>그리고 내가 너에게 말한다. 너는 베드로다.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내가 이 반석 위에 내 교회를 세울 것이니 지옥의 문들이 이것을 이길 수 없을 것이다.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4663440"/>
            <a:ext cx="10308848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And I tell you that you are Peter, and on this rock I will build my church,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and the gates of Hades will not overcome it.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27048" y="2606040"/>
            <a:ext cx="9144000" cy="1655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0">
                <a:solidFill>
                  <a:srgbClr val="FFFFFF"/>
                </a:solidFill>
                <a:latin typeface="나눔고딕"/>
              </a:defRPr>
            </a:pPr>
            <a:r>
              <a:t>사도행전 13:46-52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832104"/>
            <a:ext cx="10972800" cy="6309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FFFFF"/>
                </a:solidFill>
                <a:latin typeface="나눔고딕"/>
              </a:defRPr>
            </a:pPr>
            <a:r>
              <a:t>사도행전 Acts | 13:46-52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" y="2194560"/>
            <a:ext cx="108813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46</a:t>
            </a:r>
            <a:br/>
            <a:r>
              <a:rPr sz="2400" b="1">
                <a:solidFill>
                  <a:srgbClr val="FFFFFF"/>
                </a:solidFill>
                <a:latin typeface="나눔고딕"/>
              </a:rPr>
              <a:t>그때 바울과 바나바가 그들에게 담대하게 대답했습니다. “우리는 하나님의 말씀을 여러분에게 먼저 전하지 않을 수 없었습니다. 그런데도 여러분은 그 말씀을 거절하고 영원한 생명을 얻기에 합당치 못한 사람이라고 스스로 판단하고 있습니다. 그렇기 때문에 우리는 이제 이방 사람들에게 눈을 돌립니다.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4663440"/>
            <a:ext cx="10213848" cy="17465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Then Paul and Barnabas answered them boldly: "We had to speak the word of God to you first. Since you reject it and do not consider yourselves worthy of eternal life, we now turn to the Gentiles.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832104"/>
            <a:ext cx="10972800" cy="6309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FFFFF"/>
                </a:solidFill>
                <a:latin typeface="나눔고딕"/>
              </a:defRPr>
            </a:pPr>
            <a:r>
              <a:t>사도행전 Acts | 13:46-52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" y="2194560"/>
            <a:ext cx="108813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47</a:t>
            </a:r>
            <a:br/>
            <a:r>
              <a:rPr sz="2400" b="1">
                <a:solidFill>
                  <a:srgbClr val="FFFFFF"/>
                </a:solidFill>
                <a:latin typeface="나눔고딕"/>
              </a:rPr>
              <a:t>이것이 바로 주께서 우리에게 하신 명령이기 때문입니다. ‘내가 너를 이방 사람들의 빛으로 삼았으니 이는 네가 땅 끝까지 구원을 이루게 하려는 것이다.’” 사49:6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4663440"/>
            <a:ext cx="10213848" cy="17465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For this is what the Lord has commanded us: "`I have made you a light for the Gentiles, that you may bring salvation to the ends of the earth.'"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832104"/>
            <a:ext cx="10972800" cy="6309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FFFFF"/>
                </a:solidFill>
                <a:latin typeface="나눔고딕"/>
              </a:defRPr>
            </a:pPr>
            <a:r>
              <a:t>사도행전 Acts | 13:46-52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" y="2194560"/>
            <a:ext cx="108813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48</a:t>
            </a:r>
            <a:br/>
            <a:r>
              <a:rPr sz="2400" b="1">
                <a:solidFill>
                  <a:srgbClr val="FFFFFF"/>
                </a:solidFill>
                <a:latin typeface="나눔고딕"/>
              </a:rPr>
              <a:t>이 말을 들은 이방 사람들은 기뻐하며 주의 말씀을 찬양했습니다. 그리고 영원한 생명을 얻도록 선택된 사람들은 모두 믿게 됐습니다.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4663440"/>
            <a:ext cx="10213848" cy="17465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When the Gentiles heard this, they were glad and honored the word of the Lord; and all who were appointed for eternal life believed.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832104"/>
            <a:ext cx="10972800" cy="6309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FFFFF"/>
                </a:solidFill>
                <a:latin typeface="나눔고딕"/>
              </a:defRPr>
            </a:pPr>
            <a:r>
              <a:t>사도행전 Acts | 13:46-52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" y="2194560"/>
            <a:ext cx="108813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49</a:t>
            </a:r>
            <a:br/>
            <a:r>
              <a:rPr sz="2400" b="1">
                <a:solidFill>
                  <a:srgbClr val="FFFFFF"/>
                </a:solidFill>
                <a:latin typeface="나눔고딕"/>
              </a:rPr>
              <a:t>그리하여 주의 말씀이 그 지방 전체에 두루 퍼졌습니다.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4663440"/>
            <a:ext cx="10213848" cy="17465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The word of the Lord spread through the whole region.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832104"/>
            <a:ext cx="10972800" cy="6309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FFFFF"/>
                </a:solidFill>
                <a:latin typeface="나눔고딕"/>
              </a:defRPr>
            </a:pPr>
            <a:r>
              <a:t>사도행전 Acts | 13:46-52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" y="2194560"/>
            <a:ext cx="108813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50</a:t>
            </a:r>
            <a:br/>
            <a:r>
              <a:rPr sz="2400" b="1">
                <a:solidFill>
                  <a:srgbClr val="FFFFFF"/>
                </a:solidFill>
                <a:latin typeface="나눔고딕"/>
              </a:rPr>
              <a:t>그러나 유대 사람들은 경건한 귀부인들과 그 도시의 지도자들을 선동해 바울과 바나바를 핍박하게 했고 결국 그 지방에서 그들을 강제로 내쫓았습니다.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4663440"/>
            <a:ext cx="10213848" cy="17465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But the Jews incited the God-fearing women of high standing and the leading men of the city. They stirred up persecution against Paul and Barnabas, and expelled them from their region.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832104"/>
            <a:ext cx="10972800" cy="6309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FFFFF"/>
                </a:solidFill>
                <a:latin typeface="나눔고딕"/>
              </a:defRPr>
            </a:pPr>
            <a:r>
              <a:t>사도행전 Acts | 13:46-52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" y="2194560"/>
            <a:ext cx="108813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51</a:t>
            </a:r>
            <a:br/>
            <a:r>
              <a:rPr sz="2400" b="1">
                <a:solidFill>
                  <a:srgbClr val="FFFFFF"/>
                </a:solidFill>
                <a:latin typeface="나눔고딕"/>
              </a:rPr>
              <a:t>그러자 바울과 바나바는 발에 붙어 있던 먼지를 그들을 향해 떨어 버리고 이고니온으로 갔습니다.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4663440"/>
            <a:ext cx="10213848" cy="17465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So they shook the dust from their feet in protest against them and went to Iconium.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832104"/>
            <a:ext cx="10972800" cy="6309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FFFFF"/>
                </a:solidFill>
                <a:latin typeface="나눔고딕"/>
              </a:defRPr>
            </a:pPr>
            <a:r>
              <a:t>사도행전 Acts | 13:46-52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" y="2194560"/>
            <a:ext cx="108813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52</a:t>
            </a:r>
            <a:br/>
            <a:r>
              <a:rPr sz="2400" b="1">
                <a:solidFill>
                  <a:srgbClr val="FFFFFF"/>
                </a:solidFill>
                <a:latin typeface="나눔고딕"/>
              </a:rPr>
              <a:t>제자들은 기쁨과 성령으로 충만했습니다.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4663440"/>
            <a:ext cx="10213848" cy="17465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And the disciples were filled with joy and with the Holy Spirit.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27048" y="2606040"/>
            <a:ext cx="9144000" cy="1655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0">
                <a:solidFill>
                  <a:srgbClr val="FFFFFF"/>
                </a:solidFill>
                <a:latin typeface="나눔고딕"/>
              </a:defRPr>
            </a:pPr>
            <a:r>
              <a:t>마태복음 28:16-20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832104"/>
            <a:ext cx="10972800" cy="6309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FFFFF"/>
                </a:solidFill>
                <a:latin typeface="나눔고딕"/>
              </a:defRPr>
            </a:pPr>
            <a:r>
              <a:t>마태복음 Matthew | 28:16-20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" y="2194560"/>
            <a:ext cx="108813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16</a:t>
            </a:r>
            <a:br/>
            <a:r>
              <a:rPr sz="2400" b="1">
                <a:solidFill>
                  <a:srgbClr val="FFFFFF"/>
                </a:solidFill>
                <a:latin typeface="나눔고딕"/>
              </a:rPr>
              <a:t>열한 제자들이 갈릴리로 가서 예수께서 일러 주신 산에 이르렀습니다.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4663440"/>
            <a:ext cx="7334059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Then the eleven disciples went to Galilee,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to the mountain where Jesus had told them to go.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832104"/>
            <a:ext cx="10972800" cy="6309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FFFFF"/>
                </a:solidFill>
                <a:latin typeface="나눔고딕"/>
              </a:defRPr>
            </a:pPr>
            <a:r>
              <a:t>마태복음 Matthew | 28:16-20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" y="2194560"/>
            <a:ext cx="5817618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17</a:t>
            </a:r>
            <a:br/>
            <a:r>
              <a:rPr sz="2400" b="1">
                <a:solidFill>
                  <a:srgbClr val="FFFFFF"/>
                </a:solidFill>
                <a:latin typeface="나눔고딕"/>
              </a:rPr>
              <a:t>그리고 그들은 예수를 뵙고 경배드렸습니다.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그러나 어떤 사람들은 의심했습니다.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4663440"/>
            <a:ext cx="10213848" cy="17465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When they saw him, they worshiped him; but some doubted.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832104"/>
            <a:ext cx="10972800" cy="6309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FFFFF"/>
                </a:solidFill>
                <a:latin typeface="나눔고딕"/>
              </a:defRPr>
            </a:pPr>
            <a:r>
              <a:t>마태복음 Matthew | 28:16-20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" y="2194560"/>
            <a:ext cx="6971780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18</a:t>
            </a:r>
            <a:br/>
            <a:r>
              <a:rPr sz="2400" b="1">
                <a:solidFill>
                  <a:srgbClr val="FFFFFF"/>
                </a:solidFill>
                <a:latin typeface="나눔고딕"/>
              </a:rPr>
              <a:t>그때 예수께서 다가오셔서 그들에게 말씀하셨습니다.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“하늘과 땅의 모든 권세가 내게 주어졌다.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4663440"/>
            <a:ext cx="8659743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Then Jesus came to them and said,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"All authority in heaven and on earth has been given to me.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832104"/>
            <a:ext cx="10972800" cy="6309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FFFFF"/>
                </a:solidFill>
                <a:latin typeface="나눔고딕"/>
              </a:defRPr>
            </a:pPr>
            <a:r>
              <a:t>마태복음 Matthew | 28:16-20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" y="2194560"/>
            <a:ext cx="6186309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19</a:t>
            </a:r>
            <a:br/>
            <a:r>
              <a:rPr sz="2400" b="1">
                <a:solidFill>
                  <a:srgbClr val="FFFFFF"/>
                </a:solidFill>
                <a:latin typeface="나눔고딕"/>
              </a:rPr>
              <a:t>그러므로 너희는 가서 모든 민족을 제자로 삼아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아버지와 아들과 성령의 이름으로 세례를 주고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4663440"/>
            <a:ext cx="9176038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Therefore go and make disciples of all nations, baptizing them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in the name of the Father and of the Son and of the Holy Spirit,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832104"/>
            <a:ext cx="10972800" cy="6309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FFFFF"/>
                </a:solidFill>
                <a:latin typeface="나눔고딕"/>
              </a:defRPr>
            </a:pPr>
            <a:r>
              <a:t>마태복음 Matthew | 28:16-20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" y="2194560"/>
            <a:ext cx="8183651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20</a:t>
            </a:r>
            <a:br/>
            <a:r>
              <a:rPr sz="2400" b="1">
                <a:solidFill>
                  <a:srgbClr val="FFFFFF"/>
                </a:solidFill>
                <a:latin typeface="나눔고딕"/>
              </a:rPr>
              <a:t>내가 너희에게 명령한 모든 것을 그들에게 가르쳐 지키게 하라.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보라. 내가 세상 끝 날까지 너희와 항상 함께 있을 것이다.”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4663440"/>
            <a:ext cx="9084538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and teaching them to obey everything I have commanded you.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And surely I am with you always, to the very end of the age."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27048" y="2606040"/>
            <a:ext cx="9144000" cy="1655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0">
                <a:solidFill>
                  <a:srgbClr val="FFFFFF"/>
                </a:solidFill>
                <a:latin typeface="나눔고딕"/>
              </a:defRPr>
            </a:pPr>
            <a:r>
              <a:t>사도행전 1:8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832104"/>
            <a:ext cx="10972800" cy="6309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FFFFF"/>
                </a:solidFill>
                <a:latin typeface="나눔고딕"/>
              </a:defRPr>
            </a:pPr>
            <a:r>
              <a:t>사도행전 Acts | 1:8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" y="2194560"/>
            <a:ext cx="108813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8</a:t>
            </a:r>
            <a:br/>
            <a:r>
              <a:rPr sz="2400" b="1">
                <a:solidFill>
                  <a:srgbClr val="FFFFFF"/>
                </a:solidFill>
                <a:latin typeface="나눔고딕"/>
              </a:rPr>
              <a:t>그러나 성령께서 너희에게 오시면 너희가 권능을 받고 예루살렘과 온 유대와 사마리아와 땅 끝까지 이르러 내 증인이 될 것이다.”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4663440"/>
            <a:ext cx="10213848" cy="17465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But you will receive power when the Holy Spirit comes on you; and you will be my witnesses in Jerusalem, and in all Judea and Samaria, and to the ends of the earth."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27048" y="2606040"/>
            <a:ext cx="9144000" cy="1655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0">
                <a:solidFill>
                  <a:srgbClr val="FFFFFF"/>
                </a:solidFill>
                <a:latin typeface="나눔고딕"/>
              </a:defRPr>
            </a:pPr>
            <a:r>
              <a:t>에스겔 37:1-14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832104"/>
            <a:ext cx="10972800" cy="6309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FFFFF"/>
                </a:solidFill>
                <a:latin typeface="나눔고딕"/>
              </a:defRPr>
            </a:pPr>
            <a:r>
              <a:t>에스겔 Ezekiel | 37:1-14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" y="2194560"/>
            <a:ext cx="8183651" cy="15696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﻿1</a:t>
            </a:r>
            <a:br/>
            <a:r>
              <a:rPr sz="2400" b="1">
                <a:solidFill>
                  <a:srgbClr val="FFFFFF"/>
                </a:solidFill>
                <a:latin typeface="나눔고딕"/>
              </a:rPr>
              <a:t>여호와의 손이 내게 내려와서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여호와의 영으로 나를 이끌어 골짜기 가운데 데려다 놓으셨다.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그곳은 뼈들로 가득했다.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4663440"/>
            <a:ext cx="8186857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The hand of the LORD was upon me,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and he brought me out by the Spirit of the LORD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and set me in the middle of a valley; it was full of bones.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832104"/>
            <a:ext cx="10972800" cy="6309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FFFFF"/>
                </a:solidFill>
                <a:latin typeface="나눔고딕"/>
              </a:defRPr>
            </a:pPr>
            <a:r>
              <a:t>에스겔 Ezekiel | 37:1-14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" y="2194560"/>
            <a:ext cx="5413661" cy="15696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2</a:t>
            </a:r>
            <a:br/>
            <a:r>
              <a:rPr sz="2400" b="1">
                <a:solidFill>
                  <a:srgbClr val="FFFFFF"/>
                </a:solidFill>
                <a:latin typeface="나눔고딕"/>
              </a:rPr>
              <a:t>그분은 나를 뼈 주위로 지나가게 하셨다.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골짜기 바닥에 뼈가 아주 많았다.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그 뼈들은 매우 말라 있었다.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4663440"/>
            <a:ext cx="8172430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He led me back and forth among them,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and I saw a great many bones on the floor of the valley,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bones that were very dry.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832104"/>
            <a:ext cx="10972800" cy="6309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FFFFF"/>
                </a:solidFill>
                <a:latin typeface="나눔고딕"/>
              </a:defRPr>
            </a:pPr>
            <a:r>
              <a:t>에스겔 Ezekiel | 37:1-14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" y="2194560"/>
            <a:ext cx="8746305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3</a:t>
            </a:r>
            <a:br/>
            <a:r>
              <a:rPr sz="2400" b="1">
                <a:solidFill>
                  <a:srgbClr val="FFFFFF"/>
                </a:solidFill>
                <a:latin typeface="나눔고딕"/>
              </a:rPr>
              <a:t>그분께서 내게 물으셨다. “사람아, 이 뼈들이 살아날 수 있겠느냐?”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나는 말했다. “주 여호와여, 주께서 아십니다.”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4663440"/>
            <a:ext cx="7383753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He asked me, "Son of man, can these bones live?"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I said, "O Sovereign LORD, you alone know."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832104"/>
            <a:ext cx="10972800" cy="6309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FFFFF"/>
                </a:solidFill>
                <a:latin typeface="나눔고딕"/>
              </a:defRPr>
            </a:pPr>
            <a:r>
              <a:t>에스겔 Ezekiel | 37:1-14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" y="2194560"/>
            <a:ext cx="6104556" cy="15696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4</a:t>
            </a:r>
            <a:br/>
            <a:r>
              <a:rPr sz="2400" b="1">
                <a:solidFill>
                  <a:srgbClr val="FFFFFF"/>
                </a:solidFill>
                <a:latin typeface="나눔고딕"/>
              </a:rPr>
              <a:t>그러자 그분께서 내게 말씀하셨다.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“이 뼈들에게 예언하여라. 그들에게 말하여라.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‘마른 뼈들아, 여호와의 말씀을 들으라!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4663440"/>
            <a:ext cx="6335389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Then he said to me,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"Prophesy to these bones and say to them,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`Dry bones, hear the word of the LORD!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832104"/>
            <a:ext cx="10972800" cy="6309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FFFFF"/>
                </a:solidFill>
                <a:latin typeface="나눔고딕"/>
              </a:defRPr>
            </a:pPr>
            <a:r>
              <a:t>에스겔 Ezekiel | 37:1-14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" y="2194560"/>
            <a:ext cx="8645315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5</a:t>
            </a:r>
            <a:br/>
            <a:r>
              <a:rPr sz="2400" b="1">
                <a:solidFill>
                  <a:srgbClr val="FFFFFF"/>
                </a:solidFill>
                <a:latin typeface="나눔고딕"/>
              </a:rPr>
              <a:t>이 뼈들에게 주 여호와가 이렇게 말한다.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내가 너희 안에 생기를 들어가게 할 터이니 너희는 살게 될 것이다.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4663440"/>
            <a:ext cx="7895110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This is what the Sovereign LORD says to these bones: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I will make breath enter you, and you will come to life.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832104"/>
            <a:ext cx="10972800" cy="6309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FFFFF"/>
                </a:solidFill>
                <a:latin typeface="나눔고딕"/>
              </a:defRPr>
            </a:pPr>
            <a:r>
              <a:t>에스겔 Ezekiel | 37:1-14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" y="2194560"/>
            <a:ext cx="9591087" cy="15696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6</a:t>
            </a:r>
            <a:br/>
            <a:r>
              <a:rPr sz="2400" b="1">
                <a:solidFill>
                  <a:srgbClr val="FFFFFF"/>
                </a:solidFill>
                <a:latin typeface="나눔고딕"/>
              </a:rPr>
              <a:t>내가 너희에게 힘줄을 붙이고 그 위에 살을 붙이고 그 위에 살갗을 덮고는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너희 안에 생기를 불어넣을 것이다.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그러면 너희는 살게 될 것이고 내가 여호와임을 알게 될 것이다.’”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4663440"/>
            <a:ext cx="10730823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I will attach tendons to you and make flesh come upon you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and cover you with skin; I will put breath in you, and you will come to life.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Then you will know that I am the LORD.'"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832104"/>
            <a:ext cx="10972800" cy="6309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FFFFF"/>
                </a:solidFill>
                <a:latin typeface="나눔고딕"/>
              </a:defRPr>
            </a:pPr>
            <a:r>
              <a:t>에스겔 Ezekiel | 37:1-14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" y="2194560"/>
            <a:ext cx="7138493" cy="15696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7</a:t>
            </a:r>
            <a:br/>
            <a:r>
              <a:rPr sz="2400" b="1">
                <a:solidFill>
                  <a:srgbClr val="FFFFFF"/>
                </a:solidFill>
                <a:latin typeface="나눔고딕"/>
              </a:rPr>
              <a:t>그리하여 나는 명령받은 대로 예언했다.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그런데 내가 예언을 하자 덜그럭거리는 소리가 나더니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뼈와 뼈가 맞붙어서 뼈들이 함께 모였다.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4663440"/>
            <a:ext cx="9408345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So I prophesied as I was commanded. And as I was prophesying,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there was a noise, a rattling sound,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and the bones came together, bone to bone.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832104"/>
            <a:ext cx="10972800" cy="6309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FFFFF"/>
                </a:solidFill>
                <a:latin typeface="나눔고딕"/>
              </a:defRPr>
            </a:pPr>
            <a:r>
              <a:t>에스겔 Ezekiel | 37:1-14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" y="2194560"/>
            <a:ext cx="8933856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8</a:t>
            </a:r>
            <a:br/>
            <a:r>
              <a:rPr sz="2400" b="1">
                <a:solidFill>
                  <a:srgbClr val="FFFFFF"/>
                </a:solidFill>
                <a:latin typeface="나눔고딕"/>
              </a:rPr>
              <a:t>내가 보니 힘줄과 살이 뼈들 위에 올라왔고 살갗이 그것들을 덮었다.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그러나 그것들 안에 생기는 없었다.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4663440"/>
            <a:ext cx="10849445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I looked, and tendons and flesh appeared on them and skin covered them,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but there was no breath in them.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832104"/>
            <a:ext cx="10972800" cy="6309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FFFFF"/>
                </a:solidFill>
                <a:latin typeface="나눔고딕"/>
              </a:defRPr>
            </a:pPr>
            <a:r>
              <a:t>에스겔 Ezekiel | 37:1-14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" y="2194560"/>
            <a:ext cx="8390438" cy="19389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9</a:t>
            </a:r>
            <a:br/>
            <a:r>
              <a:rPr sz="2400" b="1">
                <a:solidFill>
                  <a:srgbClr val="FFFFFF"/>
                </a:solidFill>
                <a:latin typeface="나눔고딕"/>
              </a:rPr>
              <a:t>그러자 그분께서 내게 말씀하셨다.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“사람아, 생기에게 예언하여라. 너는 생기에게 예언해 말하여라.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‘주 여호와가 이렇게 말한다. 생기야, 사방에서 나와서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이 살해당한 사람들에게 불어서 그들이 살아나게 하여라.’”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4663440"/>
            <a:ext cx="9701695" cy="19389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Then he said to me,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"Prophesy to the breath; prophesy, son of man, and say to it,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`This is what the Sovereign LORD says: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Come from the four winds, O breath, and breathe into these slain,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that they may live.'"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832104"/>
            <a:ext cx="10972800" cy="6309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FFFFF"/>
                </a:solidFill>
                <a:latin typeface="나눔고딕"/>
              </a:defRPr>
            </a:pPr>
            <a:r>
              <a:t>에스겔 Ezekiel | 37:1-14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" y="2194560"/>
            <a:ext cx="9799478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10</a:t>
            </a:r>
            <a:br/>
            <a:r>
              <a:rPr sz="2400" b="1">
                <a:solidFill>
                  <a:srgbClr val="FFFFFF"/>
                </a:solidFill>
                <a:latin typeface="나눔고딕"/>
              </a:rPr>
              <a:t>그분께서 내게 명령하신 대로 내가 예언했더니 생기가 그들 안에 들어갔다.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그러자 그들이 살아나서 두 발로 일어서서는 엄청나게 큰 군대가 됐다.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4663440"/>
            <a:ext cx="9539791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So I prophesied as he commanded me, and breath entered them;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they came to life and stood up on their feet -- a vast army.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832104"/>
            <a:ext cx="10972800" cy="6309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FFFFF"/>
                </a:solidFill>
                <a:latin typeface="나눔고딕"/>
              </a:defRPr>
            </a:pPr>
            <a:r>
              <a:t>에스겔 Ezekiel | 37:1-14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" y="2194560"/>
            <a:ext cx="10381368" cy="15696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11</a:t>
            </a:r>
            <a:br/>
            <a:r>
              <a:rPr sz="2400" b="1">
                <a:solidFill>
                  <a:srgbClr val="FFFFFF"/>
                </a:solidFill>
                <a:latin typeface="나눔고딕"/>
              </a:rPr>
              <a:t>그러자 그분께서 내게 말씀하셨다. “사람아, 이 뼈들은 모든 이스라엘 족속이다.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그들이 말한다. ‘우리의 뼈들은 말랐고 우리 소망은 사라졌으며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우리가 스스로를 쓰러뜨렸다.’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4663440"/>
            <a:ext cx="11110734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Then he said to me: "Son of man, these bones are the whole house of Israel.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They say, `Our bones are dried up and our hope is gone; we are cut off.'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832104"/>
            <a:ext cx="10972800" cy="6309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FFFFF"/>
                </a:solidFill>
                <a:latin typeface="나눔고딕"/>
              </a:defRPr>
            </a:pPr>
            <a:r>
              <a:t>에스겔 Ezekiel | 37:1-14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" y="2194560"/>
            <a:ext cx="8795998" cy="15696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12</a:t>
            </a:r>
            <a:br/>
            <a:r>
              <a:rPr sz="2400" b="1">
                <a:solidFill>
                  <a:srgbClr val="FFFFFF"/>
                </a:solidFill>
                <a:latin typeface="나눔고딕"/>
              </a:rPr>
              <a:t>그러므로 예언하여라. 그들에게 말하여라.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‘주 여호와가 이렇게 말한다. 내 백성들아, 내가 너희 무덤을 열어서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무덤에서 올라오게 하고 너희를 이스라엘 땅으로 데려갈 것이다.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4663440"/>
            <a:ext cx="10895932" cy="15696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Therefore prophesy and say to them: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`This is what the Sovereign LORD says: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O my people, I am going to open your graves and bring you up from them;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I will bring you back to the land of Israel.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832104"/>
            <a:ext cx="10972800" cy="6309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FFFFF"/>
                </a:solidFill>
                <a:latin typeface="나눔고딕"/>
              </a:defRPr>
            </a:pPr>
            <a:r>
              <a:t>에스겔 Ezekiel | 37:1-14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" y="2194560"/>
            <a:ext cx="8645315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13</a:t>
            </a:r>
            <a:br/>
            <a:r>
              <a:rPr sz="2400" b="1">
                <a:solidFill>
                  <a:srgbClr val="FFFFFF"/>
                </a:solidFill>
                <a:latin typeface="나눔고딕"/>
              </a:rPr>
              <a:t>내 백성들아, 무덤을 열어서 내가 너희를 무덤에서 올라오게 할 때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내가 여호와임을 너희는 알게 될 것이다.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4663440"/>
            <a:ext cx="7890302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Then you, my people, will know that I am the LORD,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when I open your graves and bring you up from them.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832104"/>
            <a:ext cx="10972800" cy="6309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FFFFF"/>
                </a:solidFill>
                <a:latin typeface="나눔고딕"/>
              </a:defRPr>
            </a:pPr>
            <a:r>
              <a:t>에스겔 Ezekiel | 37:1-14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" y="2194560"/>
            <a:ext cx="7491153" cy="19389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14</a:t>
            </a:r>
            <a:br/>
            <a:r>
              <a:rPr sz="2400" b="1">
                <a:solidFill>
                  <a:srgbClr val="FFFFFF"/>
                </a:solidFill>
                <a:latin typeface="나눔고딕"/>
              </a:rPr>
              <a:t>내가 너희 안에 내 영을 줄 것이니 너희가 살아날 것이다.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너희를 너희의 땅에서 살게 할 것이다.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그러면 내가 여호와임을 너희는 알게 될 것이다.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내가 말했으니 내가 실천할 것이다. 여호와의 말씀이다.’”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4663440"/>
            <a:ext cx="11575605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I will put my Spirit in you and you will live, and I will settle you in your own land.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Then you will know that I the LORD have spoken,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and I have done it, declares the LORD.'"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27048" y="2606040"/>
            <a:ext cx="9144000" cy="1655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0">
                <a:solidFill>
                  <a:srgbClr val="FFFFFF"/>
                </a:solidFill>
                <a:latin typeface="나눔고딕"/>
              </a:defRPr>
            </a:pPr>
            <a:r>
              <a:t>요엘 2:28,29-32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832104"/>
            <a:ext cx="10972800" cy="6309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FFFFF"/>
                </a:solidFill>
                <a:latin typeface="나눔고딕"/>
              </a:defRPr>
            </a:pPr>
            <a:r>
              <a:t>요엘 Joel | 2:28,29-32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" y="2194560"/>
            <a:ext cx="108813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28</a:t>
            </a:r>
            <a:br/>
            <a:r>
              <a:rPr sz="2400" b="1">
                <a:solidFill>
                  <a:srgbClr val="FFFFFF"/>
                </a:solidFill>
                <a:latin typeface="나눔고딕"/>
              </a:rPr>
              <a:t>그러고 난 후에 내가 모든 사람 위에 내 영을 부어 주겠다. 너희 아들들과 딸들이 예언할 것이고 너희 늙은이들은 꿈을 꾸며 너희 젊은이들이 환상을 보게 될 것이다.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4663440"/>
            <a:ext cx="10213848" cy="17465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`And afterward, I will pour out my Spirit on all people. Your sons and daughters will prophesy, your old men will dream dreams, your young men will see visions.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832104"/>
            <a:ext cx="10972800" cy="6309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FFFFF"/>
                </a:solidFill>
                <a:latin typeface="나눔고딕"/>
              </a:defRPr>
            </a:pPr>
            <a:r>
              <a:t>요엘 Joel | 2:28,29-32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" y="2194560"/>
            <a:ext cx="108813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29</a:t>
            </a:r>
            <a:br/>
            <a:r>
              <a:rPr sz="2400" b="1">
                <a:solidFill>
                  <a:srgbClr val="FFFFFF"/>
                </a:solidFill>
                <a:latin typeface="나눔고딕"/>
              </a:rPr>
              <a:t>그날에 너희 하인들과 하녀들에게도 내가 내 영을 부어 줄 것이다.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4663440"/>
            <a:ext cx="10213848" cy="17465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Even on my servants, both men and women, I will pour out my Spirit in those days.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832104"/>
            <a:ext cx="10972800" cy="6309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FFFFF"/>
                </a:solidFill>
                <a:latin typeface="나눔고딕"/>
              </a:defRPr>
            </a:pPr>
            <a:r>
              <a:t>요엘 Joel | 2:28,29-32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" y="2194560"/>
            <a:ext cx="108813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30</a:t>
            </a:r>
            <a:br/>
            <a:r>
              <a:rPr sz="2400" b="1">
                <a:solidFill>
                  <a:srgbClr val="FFFFFF"/>
                </a:solidFill>
                <a:latin typeface="나눔고딕"/>
              </a:rPr>
              <a:t>내가 하늘과 땅에 징조를 보여 줄 텐데 그것은 피와 불과 연기 기둥이다.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4663440"/>
            <a:ext cx="10213848" cy="17465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I will show wonders in the heavens and on the earth, blood and fire and billows of smoke.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832104"/>
            <a:ext cx="10972800" cy="6309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FFFFF"/>
                </a:solidFill>
                <a:latin typeface="나눔고딕"/>
              </a:defRPr>
            </a:pPr>
            <a:r>
              <a:t>요엘 Joel | 2:28,29-32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" y="2194560"/>
            <a:ext cx="108813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31</a:t>
            </a:r>
            <a:br/>
            <a:r>
              <a:rPr sz="2400" b="1">
                <a:solidFill>
                  <a:srgbClr val="FFFFFF"/>
                </a:solidFill>
                <a:latin typeface="나눔고딕"/>
              </a:rPr>
              <a:t>크고 두려운 여호와의 날이 오기 전에 해가 어둠으로 바뀌고 달이 피로 바뀔 것이다.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4663440"/>
            <a:ext cx="10213848" cy="17465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The sun will be turned to darkness and the moon to blood before the coming of the great and dreadful day of the LORD.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832104"/>
            <a:ext cx="10972800" cy="6309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FFFFF"/>
                </a:solidFill>
                <a:latin typeface="나눔고딕"/>
              </a:defRPr>
            </a:pPr>
            <a:r>
              <a:t>요엘 Joel | 2:28,29-32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" y="2194560"/>
            <a:ext cx="108813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32</a:t>
            </a:r>
            <a:br/>
            <a:r>
              <a:rPr sz="2400" b="1">
                <a:solidFill>
                  <a:srgbClr val="FFFFFF"/>
                </a:solidFill>
                <a:latin typeface="나눔고딕"/>
              </a:rPr>
              <a:t>그러나 여호와의 이름을 부르는 사람은 누구나 구원받을 것이다. 나 여호와가 말한 대로 시온 산과 예루살렘에는 살아남은 사람이 있고 내 부름을 받을 이들도 있을 것이다.”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4663440"/>
            <a:ext cx="10213848" cy="17465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And everyone who calls on the name of the LORD will be saved; for on Mount Zion and in Jerusalem there will be deliverance, as the LORD has said, among the survivors whom the LORD calls.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27048" y="2606040"/>
            <a:ext cx="9144000" cy="1655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0">
                <a:solidFill>
                  <a:srgbClr val="FFFFFF"/>
                </a:solidFill>
                <a:latin typeface="나눔고딕"/>
              </a:defRPr>
            </a:pPr>
            <a:r>
              <a:t>마태복음 24:14-15,20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832104"/>
            <a:ext cx="10972800" cy="6309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FFFFF"/>
                </a:solidFill>
                <a:latin typeface="나눔고딕"/>
              </a:defRPr>
            </a:pPr>
            <a:r>
              <a:t>마태복음 Matthew | 24:14-15,20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" y="2194560"/>
            <a:ext cx="7720383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14</a:t>
            </a:r>
            <a:br/>
            <a:r>
              <a:rPr sz="2400" b="1">
                <a:solidFill>
                  <a:srgbClr val="FFFFFF"/>
                </a:solidFill>
                <a:latin typeface="나눔고딕"/>
              </a:rPr>
              <a:t>그리고 이 하늘나라 복음이 온 세상에 전파돼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모든 민족들에게 증거될 것이다. 그때서야 끝이 올 것이다.”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4663440"/>
            <a:ext cx="7087197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And this gospel of the kingdom will be preached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in the whole world as a testimony to all nations,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and then the end will come.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832104"/>
            <a:ext cx="10972800" cy="6309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FFFFF"/>
                </a:solidFill>
                <a:latin typeface="나눔고딕"/>
              </a:defRPr>
            </a:pPr>
            <a:r>
              <a:t>마태복음 Matthew | 24:14-15,20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" y="2194560"/>
            <a:ext cx="7449475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15</a:t>
            </a:r>
            <a:br/>
            <a:r>
              <a:rPr sz="2400" b="1">
                <a:solidFill>
                  <a:srgbClr val="FFFFFF"/>
                </a:solidFill>
                <a:latin typeface="나눔고딕"/>
              </a:rPr>
              <a:t>“예언자 다니엘을 통해 예언된 ‘멸망의 가증한 상징물’이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거룩한 곳에 서 있는 것을 보면 (읽는 사람들은 깨달으라)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4663440"/>
            <a:ext cx="9908482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"So when you see standing in the holy place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`the abomination that causes desolation,'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spoken of through the prophet Daniel -- let the reader understand --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832104"/>
            <a:ext cx="10972800" cy="6309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FFFFF"/>
                </a:solidFill>
                <a:latin typeface="나눔고딕"/>
              </a:defRPr>
            </a:pPr>
            <a:r>
              <a:t>마태복음 Matthew | 24:14-15,20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" y="2194560"/>
            <a:ext cx="108813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20</a:t>
            </a:r>
            <a:br/>
            <a:r>
              <a:rPr sz="2400" b="1">
                <a:solidFill>
                  <a:srgbClr val="FFFFFF"/>
                </a:solidFill>
                <a:latin typeface="나눔고딕"/>
              </a:rPr>
              <a:t>너희가 도망하는 일이 겨울이나 안식일에 일어나지 않도록 기도하라.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4663440"/>
            <a:ext cx="10213848" cy="17465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Pray that your flight will not take place in winter or on the Sabbath.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27048" y="2606040"/>
            <a:ext cx="9144000" cy="1655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0">
                <a:solidFill>
                  <a:srgbClr val="FFFFFF"/>
                </a:solidFill>
                <a:latin typeface="나눔고딕"/>
              </a:defRPr>
            </a:pPr>
            <a:r>
              <a:t>에스겔 37:1-14,16-19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832104"/>
            <a:ext cx="10972800" cy="6309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FFFFF"/>
                </a:solidFill>
                <a:latin typeface="나눔고딕"/>
              </a:defRPr>
            </a:pPr>
            <a:r>
              <a:t>에스겔 Ezekiel | 37:1-14,16-19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" y="2194560"/>
            <a:ext cx="8183651" cy="15696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﻿1</a:t>
            </a:r>
            <a:br/>
            <a:r>
              <a:rPr sz="2400" b="1">
                <a:solidFill>
                  <a:srgbClr val="FFFFFF"/>
                </a:solidFill>
                <a:latin typeface="나눔고딕"/>
              </a:rPr>
              <a:t>여호와의 손이 내게 내려와서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여호와의 영으로 나를 이끌어 골짜기 가운데 데려다 놓으셨다.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그곳은 뼈들로 가득했다.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4663440"/>
            <a:ext cx="8186857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The hand of the LORD was upon me,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and he brought me out by the Spirit of the LORD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and set me in the middle of a valley; it was full of bones.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832104"/>
            <a:ext cx="10972800" cy="6309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FFFFF"/>
                </a:solidFill>
                <a:latin typeface="나눔고딕"/>
              </a:defRPr>
            </a:pPr>
            <a:r>
              <a:t>에스겔 Ezekiel | 37:1-14,16-19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" y="2194560"/>
            <a:ext cx="5413661" cy="15696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2</a:t>
            </a:r>
            <a:br/>
            <a:r>
              <a:rPr sz="2400" b="1">
                <a:solidFill>
                  <a:srgbClr val="FFFFFF"/>
                </a:solidFill>
                <a:latin typeface="나눔고딕"/>
              </a:rPr>
              <a:t>그분은 나를 뼈 주위로 지나가게 하셨다.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골짜기 바닥에 뼈가 아주 많았다.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그 뼈들은 매우 말라 있었다.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4663440"/>
            <a:ext cx="8172430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He led me back and forth among them,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and I saw a great many bones on the floor of the valley,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bones that were very dry.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832104"/>
            <a:ext cx="10972800" cy="6309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FFFFF"/>
                </a:solidFill>
                <a:latin typeface="나눔고딕"/>
              </a:defRPr>
            </a:pPr>
            <a:r>
              <a:t>에스겔 Ezekiel | 37:1-14,16-19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" y="2194560"/>
            <a:ext cx="8746305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3</a:t>
            </a:r>
            <a:br/>
            <a:r>
              <a:rPr sz="2400" b="1">
                <a:solidFill>
                  <a:srgbClr val="FFFFFF"/>
                </a:solidFill>
                <a:latin typeface="나눔고딕"/>
              </a:rPr>
              <a:t>그분께서 내게 물으셨다. “사람아, 이 뼈들이 살아날 수 있겠느냐?”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나는 말했다. “주 여호와여, 주께서 아십니다.”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4663440"/>
            <a:ext cx="7383753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He asked me, "Son of man, can these bones live?"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I said, "O Sovereign LORD, you alone know."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832104"/>
            <a:ext cx="10972800" cy="6309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FFFFF"/>
                </a:solidFill>
                <a:latin typeface="나눔고딕"/>
              </a:defRPr>
            </a:pPr>
            <a:r>
              <a:t>에스겔 Ezekiel | 37:1-14,16-19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" y="2194560"/>
            <a:ext cx="6104556" cy="15696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4</a:t>
            </a:r>
            <a:br/>
            <a:r>
              <a:rPr sz="2400" b="1">
                <a:solidFill>
                  <a:srgbClr val="FFFFFF"/>
                </a:solidFill>
                <a:latin typeface="나눔고딕"/>
              </a:rPr>
              <a:t>그러자 그분께서 내게 말씀하셨다.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“이 뼈들에게 예언하여라. 그들에게 말하여라.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‘마른 뼈들아, 여호와의 말씀을 들으라!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4663440"/>
            <a:ext cx="6335389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Then he said to me,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"Prophesy to these bones and say to them,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`Dry bones, hear the word of the LORD!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832104"/>
            <a:ext cx="10972800" cy="6309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FFFFF"/>
                </a:solidFill>
                <a:latin typeface="나눔고딕"/>
              </a:defRPr>
            </a:pPr>
            <a:r>
              <a:t>에스겔 Ezekiel | 37:1-14,16-19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" y="2194560"/>
            <a:ext cx="8645315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5</a:t>
            </a:r>
            <a:br/>
            <a:r>
              <a:rPr sz="2400" b="1">
                <a:solidFill>
                  <a:srgbClr val="FFFFFF"/>
                </a:solidFill>
                <a:latin typeface="나눔고딕"/>
              </a:rPr>
              <a:t>이 뼈들에게 주 여호와가 이렇게 말한다.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내가 너희 안에 생기를 들어가게 할 터이니 너희는 살게 될 것이다.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4663440"/>
            <a:ext cx="7895110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This is what the Sovereign LORD says to these bones: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I will make breath enter you, and you will come to life.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832104"/>
            <a:ext cx="10972800" cy="6309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FFFFF"/>
                </a:solidFill>
                <a:latin typeface="나눔고딕"/>
              </a:defRPr>
            </a:pPr>
            <a:r>
              <a:t>에스겔 Ezekiel | 37:1-14,16-19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" y="2194560"/>
            <a:ext cx="9591087" cy="15696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6</a:t>
            </a:r>
            <a:br/>
            <a:r>
              <a:rPr sz="2400" b="1">
                <a:solidFill>
                  <a:srgbClr val="FFFFFF"/>
                </a:solidFill>
                <a:latin typeface="나눔고딕"/>
              </a:rPr>
              <a:t>내가 너희에게 힘줄을 붙이고 그 위에 살을 붙이고 그 위에 살갗을 덮고는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너희 안에 생기를 불어넣을 것이다.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그러면 너희는 살게 될 것이고 내가 여호와임을 알게 될 것이다.’”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4663440"/>
            <a:ext cx="10730823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I will attach tendons to you and make flesh come upon you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and cover you with skin; I will put breath in you, and you will come to life.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Then you will know that I am the LORD.'"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832104"/>
            <a:ext cx="10972800" cy="6309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FFFFF"/>
                </a:solidFill>
                <a:latin typeface="나눔고딕"/>
              </a:defRPr>
            </a:pPr>
            <a:r>
              <a:t>에스겔 Ezekiel | 37:1-14,16-19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" y="2194560"/>
            <a:ext cx="7138493" cy="15696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7</a:t>
            </a:r>
            <a:br/>
            <a:r>
              <a:rPr sz="2400" b="1">
                <a:solidFill>
                  <a:srgbClr val="FFFFFF"/>
                </a:solidFill>
                <a:latin typeface="나눔고딕"/>
              </a:rPr>
              <a:t>그리하여 나는 명령받은 대로 예언했다.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그런데 내가 예언을 하자 덜그럭거리는 소리가 나더니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뼈와 뼈가 맞붙어서 뼈들이 함께 모였다.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4663440"/>
            <a:ext cx="9408345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So I prophesied as I was commanded. And as I was prophesying,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there was a noise, a rattling sound,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and the bones came together, bone to bone.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832104"/>
            <a:ext cx="10972800" cy="6309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FFFFF"/>
                </a:solidFill>
                <a:latin typeface="나눔고딕"/>
              </a:defRPr>
            </a:pPr>
            <a:r>
              <a:t>에스겔 Ezekiel | 37:1-14,16-19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" y="2194560"/>
            <a:ext cx="8933856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8</a:t>
            </a:r>
            <a:br/>
            <a:r>
              <a:rPr sz="2400" b="1">
                <a:solidFill>
                  <a:srgbClr val="FFFFFF"/>
                </a:solidFill>
                <a:latin typeface="나눔고딕"/>
              </a:rPr>
              <a:t>내가 보니 힘줄과 살이 뼈들 위에 올라왔고 살갗이 그것들을 덮었다.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그러나 그것들 안에 생기는 없었다.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4663440"/>
            <a:ext cx="10849445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I looked, and tendons and flesh appeared on them and skin covered them,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but there was no breath in them.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832104"/>
            <a:ext cx="10972800" cy="6309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FFFFF"/>
                </a:solidFill>
                <a:latin typeface="나눔고딕"/>
              </a:defRPr>
            </a:pPr>
            <a:r>
              <a:t>에스겔 Ezekiel | 37:1-14,16-19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" y="2194560"/>
            <a:ext cx="8390438" cy="19389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9</a:t>
            </a:r>
            <a:br/>
            <a:r>
              <a:rPr sz="2400" b="1">
                <a:solidFill>
                  <a:srgbClr val="FFFFFF"/>
                </a:solidFill>
                <a:latin typeface="나눔고딕"/>
              </a:rPr>
              <a:t>그러자 그분께서 내게 말씀하셨다.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“사람아, 생기에게 예언하여라. 너는 생기에게 예언해 말하여라.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‘주 여호와가 이렇게 말한다. 생기야, 사방에서 나와서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이 살해당한 사람들에게 불어서 그들이 살아나게 하여라.’”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4663440"/>
            <a:ext cx="9701695" cy="19389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Then he said to me,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"Prophesy to the breath; prophesy, son of man, and say to it,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`This is what the Sovereign LORD says: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Come from the four winds, O breath, and breathe into these slain,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that they may live.'"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832104"/>
            <a:ext cx="10972800" cy="6309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FFFFF"/>
                </a:solidFill>
                <a:latin typeface="나눔고딕"/>
              </a:defRPr>
            </a:pPr>
            <a:r>
              <a:t>에스겔 Ezekiel | 37:1-14,16-19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" y="2194560"/>
            <a:ext cx="9799478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10</a:t>
            </a:r>
            <a:br/>
            <a:r>
              <a:rPr sz="2400" b="1">
                <a:solidFill>
                  <a:srgbClr val="FFFFFF"/>
                </a:solidFill>
                <a:latin typeface="나눔고딕"/>
              </a:rPr>
              <a:t>그분께서 내게 명령하신 대로 내가 예언했더니 생기가 그들 안에 들어갔다.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그러자 그들이 살아나서 두 발로 일어서서는 엄청나게 큰 군대가 됐다.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4663440"/>
            <a:ext cx="9539791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So I prophesied as he commanded me, and breath entered them;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they came to life and stood up on their feet -- a vast army.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832104"/>
            <a:ext cx="10972800" cy="6309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FFFFF"/>
                </a:solidFill>
                <a:latin typeface="나눔고딕"/>
              </a:defRPr>
            </a:pPr>
            <a:r>
              <a:t>에스겔 Ezekiel | 37:1-14,16-19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" y="2194560"/>
            <a:ext cx="10381368" cy="15696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11</a:t>
            </a:r>
            <a:br/>
            <a:r>
              <a:rPr sz="2400" b="1">
                <a:solidFill>
                  <a:srgbClr val="FFFFFF"/>
                </a:solidFill>
                <a:latin typeface="나눔고딕"/>
              </a:rPr>
              <a:t>그러자 그분께서 내게 말씀하셨다. “사람아, 이 뼈들은 모든 이스라엘 족속이다.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그들이 말한다. ‘우리의 뼈들은 말랐고 우리 소망은 사라졌으며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우리가 스스로를 쓰러뜨렸다.’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4663440"/>
            <a:ext cx="11110734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Then he said to me: "Son of man, these bones are the whole house of Israel.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They say, `Our bones are dried up and our hope is gone; we are cut off.'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832104"/>
            <a:ext cx="10972800" cy="6309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FFFFF"/>
                </a:solidFill>
                <a:latin typeface="나눔고딕"/>
              </a:defRPr>
            </a:pPr>
            <a:r>
              <a:t>에스겔 Ezekiel | 37:1-14,16-19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" y="2194560"/>
            <a:ext cx="8795998" cy="15696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12</a:t>
            </a:r>
            <a:br/>
            <a:r>
              <a:rPr sz="2400" b="1">
                <a:solidFill>
                  <a:srgbClr val="FFFFFF"/>
                </a:solidFill>
                <a:latin typeface="나눔고딕"/>
              </a:rPr>
              <a:t>그러므로 예언하여라. 그들에게 말하여라.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‘주 여호와가 이렇게 말한다. 내 백성들아, 내가 너희 무덤을 열어서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무덤에서 올라오게 하고 너희를 이스라엘 땅으로 데려갈 것이다.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4663440"/>
            <a:ext cx="10895932" cy="15696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Therefore prophesy and say to them: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`This is what the Sovereign LORD says: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O my people, I am going to open your graves and bring you up from them;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I will bring you back to the land of Israel.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832104"/>
            <a:ext cx="10972800" cy="6309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FFFFF"/>
                </a:solidFill>
                <a:latin typeface="나눔고딕"/>
              </a:defRPr>
            </a:pPr>
            <a:r>
              <a:t>에스겔 Ezekiel | 37:1-14,16-19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" y="2194560"/>
            <a:ext cx="8645315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13</a:t>
            </a:r>
            <a:br/>
            <a:r>
              <a:rPr sz="2400" b="1">
                <a:solidFill>
                  <a:srgbClr val="FFFFFF"/>
                </a:solidFill>
                <a:latin typeface="나눔고딕"/>
              </a:rPr>
              <a:t>내 백성들아, 무덤을 열어서 내가 너희를 무덤에서 올라오게 할 때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내가 여호와임을 너희는 알게 될 것이다.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4663440"/>
            <a:ext cx="7890302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Then you, my people, will know that I am the LORD,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when I open your graves and bring you up from them.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832104"/>
            <a:ext cx="10972800" cy="6309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FFFFF"/>
                </a:solidFill>
                <a:latin typeface="나눔고딕"/>
              </a:defRPr>
            </a:pPr>
            <a:r>
              <a:t>에스겔 Ezekiel | 37:1-14,16-19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" y="2194560"/>
            <a:ext cx="7491153" cy="19389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14</a:t>
            </a:r>
            <a:br/>
            <a:r>
              <a:rPr sz="2400" b="1">
                <a:solidFill>
                  <a:srgbClr val="FFFFFF"/>
                </a:solidFill>
                <a:latin typeface="나눔고딕"/>
              </a:rPr>
              <a:t>내가 너희 안에 내 영을 줄 것이니 너희가 살아날 것이다.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너희를 너희의 땅에서 살게 할 것이다.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그러면 내가 여호와임을 너희는 알게 될 것이다.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내가 말했으니 내가 실천할 것이다. 여호와의 말씀이다.’”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4663440"/>
            <a:ext cx="11575605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I will put my Spirit in you and you will live, and I will settle you in your own land.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Then you will know that I the LORD have spoken,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and I have done it, declares the LORD.'"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832104"/>
            <a:ext cx="10972800" cy="6309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FFFFF"/>
                </a:solidFill>
                <a:latin typeface="나눔고딕"/>
              </a:defRPr>
            </a:pPr>
            <a:r>
              <a:t>에스겔 Ezekiel | 37:1-14,16-19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" y="2194560"/>
            <a:ext cx="10209846" cy="19389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16</a:t>
            </a:r>
            <a:br/>
            <a:r>
              <a:rPr sz="2400" b="1">
                <a:solidFill>
                  <a:srgbClr val="FFFFFF"/>
                </a:solidFill>
                <a:latin typeface="나눔고딕"/>
              </a:rPr>
              <a:t>“너 사람아, 너는 나무 막대기 하나를 집어서 그 위에 적어라.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‘유다에게 그리고 그의 동료인 이스라엘 족속에게.’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그리고 다른 나무 막대기를 집어서 그 위에 적어라.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‘에브라임의 막대기, 곧 요셉에게 그리고 그의 동료인 모든 이스라엘 족속에게.’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4663440"/>
            <a:ext cx="10802957" cy="19389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"Son of man, take a stick of wood and write on it,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`Belonging to Judah and the Israelites associated with him.'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Then take another stick of wood, and write on it,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`Ephraim's stick, belonging to Joseph and all the house of Israel associated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with him.'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832104"/>
            <a:ext cx="10972800" cy="6309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FFFFF"/>
                </a:solidFill>
                <a:latin typeface="나눔고딕"/>
              </a:defRPr>
            </a:pPr>
            <a:r>
              <a:t>에스겔 Ezekiel | 37:1-14,16-19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" y="2194560"/>
            <a:ext cx="7318029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17</a:t>
            </a:r>
            <a:br/>
            <a:r>
              <a:rPr sz="2400" b="1">
                <a:solidFill>
                  <a:srgbClr val="FFFFFF"/>
                </a:solidFill>
                <a:latin typeface="나눔고딕"/>
              </a:rPr>
              <a:t>그리고 그것들을 서로 합쳐서 한 막대기가 되게 하여라.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그것들은 네 손에서 하나가 될 것이다.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4663440"/>
            <a:ext cx="6029215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Join them together into one stick so that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they will become one in your hand.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832104"/>
            <a:ext cx="10972800" cy="6309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FFFFF"/>
                </a:solidFill>
                <a:latin typeface="나눔고딕"/>
              </a:defRPr>
            </a:pPr>
            <a:r>
              <a:t>에스겔 Ezekiel | 37:1-14,16-19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" y="2194560"/>
            <a:ext cx="6498895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18</a:t>
            </a:r>
            <a:br/>
            <a:r>
              <a:rPr sz="2400" b="1">
                <a:solidFill>
                  <a:srgbClr val="FFFFFF"/>
                </a:solidFill>
                <a:latin typeface="나눔고딕"/>
              </a:rPr>
              <a:t>네 백성의 자손들이 네게 ‘이것들이 무슨 뜻인지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네가 우리에게 말해 주지 않겠느냐?’ 하고 물을 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4663440"/>
            <a:ext cx="6248827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"When your countrymen ask you,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`Won't you tell us what you mean by this?'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832104"/>
            <a:ext cx="10972800" cy="6309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FFFFF"/>
                </a:solidFill>
                <a:latin typeface="나눔고딕"/>
              </a:defRPr>
            </a:pPr>
            <a:r>
              <a:t>에스겔 Ezekiel | 37:1-14,16-19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" y="2194560"/>
            <a:ext cx="9661619" cy="19389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19</a:t>
            </a:r>
            <a:br/>
            <a:r>
              <a:rPr sz="2400" b="1">
                <a:solidFill>
                  <a:srgbClr val="FFFFFF"/>
                </a:solidFill>
                <a:latin typeface="나눔고딕"/>
              </a:rPr>
              <a:t>그들에게 선포하여라. ‘주 여호와가 이렇게 말한다.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내가 지금 에브라임의 손에 있는 요셉의 막대기와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그의 동료인 이스라엘 지파를 집어 들어 유다의 막대기에 합쳐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그들을 한 막대기로 만들 것이다. 그것들이 내 손안에서 하나가 될 것이다.’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4663440"/>
            <a:ext cx="10918374" cy="15696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나눔고딕"/>
              </a:rPr>
              <a:t>say to them, `This is what the Sovereign LORD says: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I am going to take the stick of Joseph -- which is in Ephraim's hand –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and of the Israelite tribes associated with him, and join it to Judah's stick, </a:t>
            </a:r>
          </a:p>
          <a:p>
            <a:r>
              <a:rPr sz="2400" b="1">
                <a:solidFill>
                  <a:srgbClr val="FFFFFF"/>
                </a:solidFill>
                <a:latin typeface="나눔고딕"/>
              </a:rPr>
              <a:t>making them a single stick of wood, and they will become one in my hand.'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